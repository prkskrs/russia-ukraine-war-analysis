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2e94ce3de5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2e94ce3de5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327fc17ffd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g1327fc17ffd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327fc17ffd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g1327fc17ffd_0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327fc17ffd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1327fc17ffd_0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327fc17ffd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327fc17ffd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2e94ce3de5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2e94ce3de5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2e94ce3de5_3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12e94ce3de5_3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327fc17ffd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1327fc17ffd_0_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3276f7474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3276f7474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327fc17ffd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327fc17ffd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327fc17ffd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327fc17ffd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327fc17ffd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327fc17ffd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2d1bfe9e81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2d1bfe9e81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2d1bfe9e81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2d1bfe9e81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2e94ce3de5_0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12e94ce3de5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327fc17ffd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327fc17ffd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2d1bfe9e8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2d1bfe9e8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2e94ce3de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2e94ce3de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2e94ce3de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2e94ce3de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2d1bfe9e81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2d1bfe9e81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2e94ce3de5_0_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12e94ce3de5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2e94ce3de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2e94ce3de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2e94ce3de5_8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2e94ce3de5_8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2e94ce3de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2e94ce3de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2e94ce3de5_8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2e94ce3de5_8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327fc17ffd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327fc17ffd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327fc17ffd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327fc17ffd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327fc17ffd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327fc17ffd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5" name="Google Shape;55;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6" name="Google Shape;56;p13"/>
          <p:cNvPicPr preferRelativeResize="0"/>
          <p:nvPr/>
        </p:nvPicPr>
        <p:blipFill rotWithShape="1">
          <a:blip r:embed="rId3">
            <a:alphaModFix/>
          </a:blip>
          <a:srcRect b="0" l="0" r="0" t="0"/>
          <a:stretch/>
        </p:blipFill>
        <p:spPr>
          <a:xfrm>
            <a:off x="0" y="0"/>
            <a:ext cx="9144003"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ctrTitle"/>
          </p:nvPr>
        </p:nvSpPr>
        <p:spPr>
          <a:xfrm>
            <a:off x="1214450" y="1702075"/>
            <a:ext cx="6694800" cy="10878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28447"/>
              <a:buNone/>
            </a:pPr>
            <a:r>
              <a:rPr b="1" lang="en" sz="3480">
                <a:latin typeface="Georgia"/>
                <a:ea typeface="Georgia"/>
                <a:cs typeface="Georgia"/>
                <a:sym typeface="Georgia"/>
              </a:rPr>
              <a:t>R</a:t>
            </a:r>
            <a:r>
              <a:rPr b="1" lang="en" sz="3480">
                <a:latin typeface="Georgia"/>
                <a:ea typeface="Georgia"/>
                <a:cs typeface="Georgia"/>
                <a:sym typeface="Georgia"/>
              </a:rPr>
              <a:t>u</a:t>
            </a:r>
            <a:r>
              <a:rPr b="1" lang="en" sz="3480">
                <a:latin typeface="Georgia"/>
                <a:ea typeface="Georgia"/>
                <a:cs typeface="Georgia"/>
                <a:sym typeface="Georgia"/>
              </a:rPr>
              <a:t>ssia &amp; Ukraine Crisis Analysis Through Tweets</a:t>
            </a:r>
            <a:endParaRPr b="1" sz="3480">
              <a:latin typeface="Georgia"/>
              <a:ea typeface="Georgia"/>
              <a:cs typeface="Georgia"/>
              <a:sym typeface="Georgia"/>
            </a:endParaRPr>
          </a:p>
        </p:txBody>
      </p:sp>
      <p:sp>
        <p:nvSpPr>
          <p:cNvPr id="62" name="Google Shape;62;p14"/>
          <p:cNvSpPr txBox="1"/>
          <p:nvPr>
            <p:ph idx="1" type="subTitle"/>
          </p:nvPr>
        </p:nvSpPr>
        <p:spPr>
          <a:xfrm>
            <a:off x="1500200" y="2789875"/>
            <a:ext cx="6409200" cy="1823100"/>
          </a:xfrm>
          <a:prstGeom prst="rect">
            <a:avLst/>
          </a:prstGeom>
          <a:noFill/>
          <a:ln>
            <a:noFill/>
          </a:ln>
        </p:spPr>
        <p:txBody>
          <a:bodyPr anchorCtr="0" anchor="t" bIns="91425" lIns="91425" spcFirstLastPara="1" rIns="91425" wrap="square" tIns="91425">
            <a:normAutofit fontScale="55000" lnSpcReduction="20000"/>
          </a:bodyPr>
          <a:lstStyle/>
          <a:p>
            <a:pPr indent="0" lvl="0" marL="0" rtl="0" algn="ctr">
              <a:lnSpc>
                <a:spcPct val="100000"/>
              </a:lnSpc>
              <a:spcBef>
                <a:spcPts val="0"/>
              </a:spcBef>
              <a:spcAft>
                <a:spcPts val="0"/>
              </a:spcAft>
              <a:buSzPct val="181818"/>
              <a:buNone/>
            </a:pPr>
            <a:r>
              <a:rPr b="1" lang="en">
                <a:solidFill>
                  <a:schemeClr val="dk1"/>
                </a:solidFill>
                <a:latin typeface="Georgia"/>
                <a:ea typeface="Georgia"/>
                <a:cs typeface="Georgia"/>
                <a:sym typeface="Georgia"/>
              </a:rPr>
              <a:t>EDA Course Project:</a:t>
            </a:r>
            <a:r>
              <a:rPr lang="en">
                <a:solidFill>
                  <a:schemeClr val="dk1"/>
                </a:solidFill>
                <a:latin typeface="Georgia"/>
                <a:ea typeface="Georgia"/>
                <a:cs typeface="Georgia"/>
                <a:sym typeface="Georgia"/>
              </a:rPr>
              <a:t> 4EDACP06</a:t>
            </a:r>
            <a:endParaRPr>
              <a:solidFill>
                <a:schemeClr val="dk1"/>
              </a:solidFill>
              <a:latin typeface="Georgia"/>
              <a:ea typeface="Georgia"/>
              <a:cs typeface="Georgia"/>
              <a:sym typeface="Georgia"/>
            </a:endParaRPr>
          </a:p>
          <a:p>
            <a:pPr indent="0" lvl="0" marL="0" rtl="0" algn="ctr">
              <a:lnSpc>
                <a:spcPct val="100000"/>
              </a:lnSpc>
              <a:spcBef>
                <a:spcPts val="0"/>
              </a:spcBef>
              <a:spcAft>
                <a:spcPts val="0"/>
              </a:spcAft>
              <a:buSzPct val="181818"/>
              <a:buNone/>
            </a:pPr>
            <a:r>
              <a:t/>
            </a:r>
            <a:endParaRPr>
              <a:solidFill>
                <a:schemeClr val="dk1"/>
              </a:solidFill>
              <a:latin typeface="Georgia"/>
              <a:ea typeface="Georgia"/>
              <a:cs typeface="Georgia"/>
              <a:sym typeface="Georgia"/>
            </a:endParaRPr>
          </a:p>
          <a:p>
            <a:pPr indent="0" lvl="0" marL="0" rtl="0" algn="r">
              <a:lnSpc>
                <a:spcPct val="100000"/>
              </a:lnSpc>
              <a:spcBef>
                <a:spcPts val="0"/>
              </a:spcBef>
              <a:spcAft>
                <a:spcPts val="0"/>
              </a:spcAft>
              <a:buSzPct val="181818"/>
              <a:buNone/>
            </a:pPr>
            <a:r>
              <a:rPr b="1" lang="en">
                <a:solidFill>
                  <a:schemeClr val="dk1"/>
                </a:solidFill>
                <a:latin typeface="Georgia"/>
                <a:ea typeface="Georgia"/>
                <a:cs typeface="Georgia"/>
                <a:sym typeface="Georgia"/>
              </a:rPr>
              <a:t>Team:</a:t>
            </a:r>
            <a:r>
              <a:rPr lang="en">
                <a:solidFill>
                  <a:schemeClr val="dk1"/>
                </a:solidFill>
                <a:latin typeface="Georgia"/>
                <a:ea typeface="Georgia"/>
                <a:cs typeface="Georgia"/>
                <a:sym typeface="Georgia"/>
              </a:rPr>
              <a:t> E17</a:t>
            </a:r>
            <a:endParaRPr>
              <a:solidFill>
                <a:schemeClr val="dk1"/>
              </a:solidFill>
              <a:latin typeface="Georgia"/>
              <a:ea typeface="Georgia"/>
              <a:cs typeface="Georgia"/>
              <a:sym typeface="Georgia"/>
            </a:endParaRPr>
          </a:p>
          <a:p>
            <a:pPr indent="0" lvl="0" marL="0" rtl="0" algn="ctr">
              <a:lnSpc>
                <a:spcPct val="100000"/>
              </a:lnSpc>
              <a:spcBef>
                <a:spcPts val="0"/>
              </a:spcBef>
              <a:spcAft>
                <a:spcPts val="0"/>
              </a:spcAft>
              <a:buSzPct val="181818"/>
              <a:buNone/>
            </a:pPr>
            <a:r>
              <a:t/>
            </a:r>
            <a:endParaRPr>
              <a:solidFill>
                <a:schemeClr val="dk1"/>
              </a:solidFill>
              <a:latin typeface="Georgia"/>
              <a:ea typeface="Georgia"/>
              <a:cs typeface="Georgia"/>
              <a:sym typeface="Georgia"/>
            </a:endParaRPr>
          </a:p>
          <a:p>
            <a:pPr indent="0" lvl="0" marL="0" rtl="0" algn="r">
              <a:lnSpc>
                <a:spcPct val="100000"/>
              </a:lnSpc>
              <a:spcBef>
                <a:spcPts val="0"/>
              </a:spcBef>
              <a:spcAft>
                <a:spcPts val="0"/>
              </a:spcAft>
              <a:buSzPct val="181818"/>
              <a:buNone/>
            </a:pPr>
            <a:r>
              <a:rPr b="1" lang="en">
                <a:solidFill>
                  <a:schemeClr val="dk1"/>
                </a:solidFill>
                <a:latin typeface="Georgia"/>
                <a:ea typeface="Georgia"/>
                <a:cs typeface="Georgia"/>
                <a:sym typeface="Georgia"/>
              </a:rPr>
              <a:t>Team Members:</a:t>
            </a:r>
            <a:endParaRPr b="1">
              <a:solidFill>
                <a:schemeClr val="dk1"/>
              </a:solidFill>
              <a:latin typeface="Georgia"/>
              <a:ea typeface="Georgia"/>
              <a:cs typeface="Georgia"/>
              <a:sym typeface="Georgia"/>
            </a:endParaRPr>
          </a:p>
          <a:p>
            <a:pPr indent="0" lvl="0" marL="0" rtl="0" algn="r">
              <a:lnSpc>
                <a:spcPct val="100000"/>
              </a:lnSpc>
              <a:spcBef>
                <a:spcPts val="0"/>
              </a:spcBef>
              <a:spcAft>
                <a:spcPts val="0"/>
              </a:spcAft>
              <a:buSzPct val="170731"/>
              <a:buNone/>
            </a:pPr>
            <a:r>
              <a:rPr lang="en" sz="2981">
                <a:solidFill>
                  <a:schemeClr val="dk1"/>
                </a:solidFill>
                <a:latin typeface="Georgia"/>
                <a:ea typeface="Georgia"/>
                <a:cs typeface="Georgia"/>
                <a:sym typeface="Georgia"/>
              </a:rPr>
              <a:t>Prakash Kumar Singh (539)</a:t>
            </a:r>
            <a:endParaRPr sz="2981">
              <a:solidFill>
                <a:schemeClr val="dk1"/>
              </a:solidFill>
              <a:latin typeface="Georgia"/>
              <a:ea typeface="Georgia"/>
              <a:cs typeface="Georgia"/>
              <a:sym typeface="Georgia"/>
            </a:endParaRPr>
          </a:p>
          <a:p>
            <a:pPr indent="0" lvl="0" marL="0" rtl="0" algn="r">
              <a:lnSpc>
                <a:spcPct val="100000"/>
              </a:lnSpc>
              <a:spcBef>
                <a:spcPts val="0"/>
              </a:spcBef>
              <a:spcAft>
                <a:spcPts val="0"/>
              </a:spcAft>
              <a:buSzPct val="170731"/>
              <a:buNone/>
            </a:pPr>
            <a:r>
              <a:rPr lang="en" sz="2981">
                <a:solidFill>
                  <a:schemeClr val="dk1"/>
                </a:solidFill>
                <a:latin typeface="Georgia"/>
                <a:ea typeface="Georgia"/>
                <a:cs typeface="Georgia"/>
                <a:sym typeface="Georgia"/>
              </a:rPr>
              <a:t>Mohit Gumber (541)</a:t>
            </a:r>
            <a:endParaRPr sz="2981">
              <a:solidFill>
                <a:schemeClr val="dk1"/>
              </a:solidFill>
              <a:latin typeface="Georgia"/>
              <a:ea typeface="Georgia"/>
              <a:cs typeface="Georgia"/>
              <a:sym typeface="Georgia"/>
            </a:endParaRPr>
          </a:p>
          <a:p>
            <a:pPr indent="0" lvl="0" marL="0" rtl="0" algn="r">
              <a:lnSpc>
                <a:spcPct val="100000"/>
              </a:lnSpc>
              <a:spcBef>
                <a:spcPts val="0"/>
              </a:spcBef>
              <a:spcAft>
                <a:spcPts val="0"/>
              </a:spcAft>
              <a:buSzPct val="170731"/>
              <a:buNone/>
            </a:pPr>
            <a:r>
              <a:rPr lang="en" sz="2981">
                <a:solidFill>
                  <a:schemeClr val="dk1"/>
                </a:solidFill>
                <a:latin typeface="Georgia"/>
                <a:ea typeface="Georgia"/>
                <a:cs typeface="Georgia"/>
                <a:sym typeface="Georgia"/>
              </a:rPr>
              <a:t>Srishti Saurav (529)</a:t>
            </a:r>
            <a:endParaRPr sz="2981">
              <a:solidFill>
                <a:schemeClr val="dk1"/>
              </a:solidFill>
              <a:latin typeface="Georgia"/>
              <a:ea typeface="Georgia"/>
              <a:cs typeface="Georgia"/>
              <a:sym typeface="Georgia"/>
            </a:endParaRPr>
          </a:p>
        </p:txBody>
      </p:sp>
      <p:pic>
        <p:nvPicPr>
          <p:cNvPr id="63" name="Google Shape;63;p14"/>
          <p:cNvPicPr preferRelativeResize="0"/>
          <p:nvPr/>
        </p:nvPicPr>
        <p:blipFill rotWithShape="1">
          <a:blip r:embed="rId3">
            <a:alphaModFix/>
          </a:blip>
          <a:srcRect b="0" l="0" r="0" t="0"/>
          <a:stretch/>
        </p:blipFill>
        <p:spPr>
          <a:xfrm>
            <a:off x="2783474" y="765025"/>
            <a:ext cx="3577050" cy="850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1367600" y="948000"/>
            <a:ext cx="65517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b="1" lang="en">
                <a:latin typeface="Georgia"/>
                <a:ea typeface="Georgia"/>
                <a:cs typeface="Georgia"/>
                <a:sym typeface="Georgia"/>
              </a:rPr>
              <a:t>Problem Statement</a:t>
            </a:r>
            <a:endParaRPr b="1">
              <a:latin typeface="Georgia"/>
              <a:ea typeface="Georgia"/>
              <a:cs typeface="Georgia"/>
              <a:sym typeface="Georgia"/>
            </a:endParaRPr>
          </a:p>
        </p:txBody>
      </p:sp>
      <p:sp>
        <p:nvSpPr>
          <p:cNvPr id="69" name="Google Shape;69;p15"/>
          <p:cNvSpPr txBox="1"/>
          <p:nvPr/>
        </p:nvSpPr>
        <p:spPr>
          <a:xfrm>
            <a:off x="1985000" y="1789800"/>
            <a:ext cx="5316900" cy="11082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Clr>
                <a:schemeClr val="dk1"/>
              </a:buClr>
              <a:buSzPts val="1100"/>
              <a:buFont typeface="Arial"/>
              <a:buNone/>
            </a:pPr>
            <a:r>
              <a:rPr b="1" i="1" lang="en" sz="2000">
                <a:solidFill>
                  <a:schemeClr val="dk1"/>
                </a:solidFill>
                <a:latin typeface="Georgia"/>
                <a:ea typeface="Georgia"/>
                <a:cs typeface="Georgia"/>
                <a:sym typeface="Georgia"/>
              </a:rPr>
              <a:t>“Analysis of the current status of Ukraine affected by Russo-Ukraine War (from Twitter data)”</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b="1" lang="en">
                <a:latin typeface="Georgia"/>
                <a:ea typeface="Georgia"/>
                <a:cs typeface="Georgia"/>
                <a:sym typeface="Georgia"/>
              </a:rPr>
              <a:t>Data Gathering</a:t>
            </a:r>
            <a:endParaRPr b="1">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1132800" y="445025"/>
            <a:ext cx="70110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Georgia"/>
                <a:ea typeface="Georgia"/>
                <a:cs typeface="Georgia"/>
                <a:sym typeface="Georgia"/>
              </a:rPr>
              <a:t>Data Gathering Flow</a:t>
            </a:r>
            <a:endParaRPr b="1">
              <a:latin typeface="Georgia"/>
              <a:ea typeface="Georgia"/>
              <a:cs typeface="Georgia"/>
              <a:sym typeface="Georgia"/>
            </a:endParaRPr>
          </a:p>
        </p:txBody>
      </p:sp>
      <p:pic>
        <p:nvPicPr>
          <p:cNvPr id="80" name="Google Shape;80;p17"/>
          <p:cNvPicPr preferRelativeResize="0"/>
          <p:nvPr/>
        </p:nvPicPr>
        <p:blipFill rotWithShape="1">
          <a:blip r:embed="rId3">
            <a:alphaModFix/>
          </a:blip>
          <a:srcRect b="0" l="1283" r="0" t="0"/>
          <a:stretch/>
        </p:blipFill>
        <p:spPr>
          <a:xfrm>
            <a:off x="1132800" y="1092550"/>
            <a:ext cx="6615049" cy="3465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b="1" lang="en">
                <a:latin typeface="Georgia"/>
                <a:ea typeface="Georgia"/>
                <a:cs typeface="Georgia"/>
                <a:sym typeface="Georgia"/>
              </a:rPr>
              <a:t>Data Understanding</a:t>
            </a:r>
            <a:endParaRPr b="1">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1117050" y="445025"/>
            <a:ext cx="71595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Georgia"/>
                <a:ea typeface="Georgia"/>
                <a:cs typeface="Georgia"/>
                <a:sym typeface="Georgia"/>
              </a:rPr>
              <a:t>Obtained Dataset</a:t>
            </a:r>
            <a:endParaRPr b="1">
              <a:latin typeface="Georgia"/>
              <a:ea typeface="Georgia"/>
              <a:cs typeface="Georgia"/>
              <a:sym typeface="Georgia"/>
            </a:endParaRPr>
          </a:p>
        </p:txBody>
      </p:sp>
      <p:sp>
        <p:nvSpPr>
          <p:cNvPr id="91" name="Google Shape;91;p19"/>
          <p:cNvSpPr txBox="1"/>
          <p:nvPr>
            <p:ph idx="1" type="body"/>
          </p:nvPr>
        </p:nvSpPr>
        <p:spPr>
          <a:xfrm>
            <a:off x="1117050" y="1017725"/>
            <a:ext cx="7006500" cy="3646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a:solidFill>
                  <a:schemeClr val="dk1"/>
                </a:solidFill>
                <a:latin typeface="Georgia"/>
                <a:ea typeface="Georgia"/>
                <a:cs typeface="Georgia"/>
                <a:sym typeface="Georgia"/>
              </a:rPr>
              <a:t>Our dataset obtained via Twitter API consists of </a:t>
            </a:r>
            <a:r>
              <a:rPr lang="en">
                <a:solidFill>
                  <a:schemeClr val="dk1"/>
                </a:solidFill>
                <a:latin typeface="Georgia"/>
                <a:ea typeface="Georgia"/>
                <a:cs typeface="Georgia"/>
                <a:sym typeface="Georgia"/>
              </a:rPr>
              <a:t>data related to tweets stored in a .csv format with the attributes:</a:t>
            </a:r>
            <a:endParaRPr>
              <a:solidFill>
                <a:schemeClr val="dk1"/>
              </a:solidFill>
              <a:latin typeface="Georgia"/>
              <a:ea typeface="Georgia"/>
              <a:cs typeface="Georgia"/>
              <a:sym typeface="Georgia"/>
            </a:endParaRPr>
          </a:p>
          <a:p>
            <a:pPr indent="0" lvl="0" marL="0" rtl="0" algn="l">
              <a:lnSpc>
                <a:spcPct val="100000"/>
              </a:lnSpc>
              <a:spcBef>
                <a:spcPts val="0"/>
              </a:spcBef>
              <a:spcAft>
                <a:spcPts val="0"/>
              </a:spcAft>
              <a:buSzPts val="1800"/>
              <a:buNone/>
            </a:pPr>
            <a:r>
              <a:t/>
            </a:r>
            <a:endParaRPr>
              <a:solidFill>
                <a:schemeClr val="dk1"/>
              </a:solidFill>
              <a:latin typeface="Georgia"/>
              <a:ea typeface="Georgia"/>
              <a:cs typeface="Georgia"/>
              <a:sym typeface="Georgia"/>
            </a:endParaRPr>
          </a:p>
          <a:p>
            <a:pPr indent="0" lvl="0" marL="0" rtl="0" algn="l">
              <a:lnSpc>
                <a:spcPct val="100000"/>
              </a:lnSpc>
              <a:spcBef>
                <a:spcPts val="0"/>
              </a:spcBef>
              <a:spcAft>
                <a:spcPts val="0"/>
              </a:spcAft>
              <a:buSzPts val="1800"/>
              <a:buNone/>
            </a:pPr>
            <a:r>
              <a:t/>
            </a:r>
            <a:endParaRPr>
              <a:solidFill>
                <a:schemeClr val="dk1"/>
              </a:solidFill>
              <a:latin typeface="Georgia"/>
              <a:ea typeface="Georgia"/>
              <a:cs typeface="Georgia"/>
              <a:sym typeface="Georgia"/>
            </a:endParaRPr>
          </a:p>
          <a:p>
            <a:pPr indent="0" lvl="0" marL="0" rtl="0" algn="l">
              <a:lnSpc>
                <a:spcPct val="100000"/>
              </a:lnSpc>
              <a:spcBef>
                <a:spcPts val="0"/>
              </a:spcBef>
              <a:spcAft>
                <a:spcPts val="1200"/>
              </a:spcAft>
              <a:buSzPts val="1800"/>
              <a:buNone/>
            </a:pPr>
            <a:r>
              <a:t/>
            </a:r>
            <a:endParaRPr>
              <a:solidFill>
                <a:schemeClr val="dk1"/>
              </a:solidFill>
              <a:latin typeface="Georgia"/>
              <a:ea typeface="Georgia"/>
              <a:cs typeface="Georgia"/>
              <a:sym typeface="Georgia"/>
            </a:endParaRPr>
          </a:p>
        </p:txBody>
      </p:sp>
      <p:pic>
        <p:nvPicPr>
          <p:cNvPr id="92" name="Google Shape;92;p19"/>
          <p:cNvPicPr preferRelativeResize="0"/>
          <p:nvPr/>
        </p:nvPicPr>
        <p:blipFill rotWithShape="1">
          <a:blip r:embed="rId3">
            <a:alphaModFix/>
          </a:blip>
          <a:srcRect b="0" l="0" r="0" t="0"/>
          <a:stretch/>
        </p:blipFill>
        <p:spPr>
          <a:xfrm>
            <a:off x="1117050" y="1749413"/>
            <a:ext cx="4933950" cy="2562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nvSpPr>
        <p:spPr>
          <a:xfrm>
            <a:off x="5032800" y="614875"/>
            <a:ext cx="3000000" cy="267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Georgia"/>
                <a:ea typeface="Georgia"/>
                <a:cs typeface="Georgia"/>
                <a:sym typeface="Georgia"/>
              </a:rPr>
              <a:t>Majority of the People didn’t use any hashtags</a:t>
            </a:r>
            <a:endParaRPr b="0" i="0" sz="18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Georgia"/>
                <a:ea typeface="Georgia"/>
                <a:cs typeface="Georgia"/>
                <a:sym typeface="Georgia"/>
              </a:rPr>
              <a:t>Or share their location </a:t>
            </a:r>
            <a:endParaRPr b="0" i="0" sz="1800" u="none" cap="none" strike="noStrike">
              <a:solidFill>
                <a:schemeClr val="dk1"/>
              </a:solidFill>
              <a:latin typeface="Georgia"/>
              <a:ea typeface="Georgia"/>
              <a:cs typeface="Georgia"/>
              <a:sym typeface="Georgia"/>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Georgia"/>
                <a:ea typeface="Georgia"/>
                <a:cs typeface="Georgia"/>
                <a:sym typeface="Georgia"/>
              </a:rPr>
              <a:t>While tweeting about the crisis still being vocal about their thoughts on the matter making twitter a source of vast range of emotion and information </a:t>
            </a:r>
            <a:endParaRPr b="0" i="0" sz="1800" u="none" cap="none" strike="noStrike">
              <a:solidFill>
                <a:schemeClr val="dk1"/>
              </a:solidFill>
              <a:latin typeface="Georgia"/>
              <a:ea typeface="Georgia"/>
              <a:cs typeface="Georgia"/>
              <a:sym typeface="Georgia"/>
            </a:endParaRPr>
          </a:p>
        </p:txBody>
      </p:sp>
      <p:pic>
        <p:nvPicPr>
          <p:cNvPr id="98" name="Google Shape;98;p20"/>
          <p:cNvPicPr preferRelativeResize="0"/>
          <p:nvPr/>
        </p:nvPicPr>
        <p:blipFill rotWithShape="1">
          <a:blip r:embed="rId3">
            <a:alphaModFix/>
          </a:blip>
          <a:srcRect b="4278" l="0" r="0" t="0"/>
          <a:stretch/>
        </p:blipFill>
        <p:spPr>
          <a:xfrm>
            <a:off x="1108800" y="614875"/>
            <a:ext cx="3288151" cy="3718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3">
            <a:alphaModFix/>
          </a:blip>
          <a:stretch>
            <a:fillRect/>
          </a:stretch>
        </p:blipFill>
        <p:spPr>
          <a:xfrm>
            <a:off x="774500" y="904300"/>
            <a:ext cx="5664199" cy="2969300"/>
          </a:xfrm>
          <a:prstGeom prst="rect">
            <a:avLst/>
          </a:prstGeom>
          <a:noFill/>
          <a:ln>
            <a:noFill/>
          </a:ln>
        </p:spPr>
      </p:pic>
      <p:sp>
        <p:nvSpPr>
          <p:cNvPr id="104" name="Google Shape;104;p21"/>
          <p:cNvSpPr txBox="1"/>
          <p:nvPr/>
        </p:nvSpPr>
        <p:spPr>
          <a:xfrm>
            <a:off x="6572275" y="878550"/>
            <a:ext cx="18636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Georgia"/>
                <a:ea typeface="Georgia"/>
                <a:cs typeface="Georgia"/>
                <a:sym typeface="Georgia"/>
              </a:rPr>
              <a:t>As evident from the plot, there is a large proportion of the Americans being vocal about the speculation about the crisis, involvement in which is deterministic for diplomatic relations between the US and Russia</a:t>
            </a:r>
            <a:endParaRPr sz="1200">
              <a:solidFill>
                <a:schemeClr val="dk1"/>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20746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b="1" lang="en">
                <a:latin typeface="Georgia"/>
                <a:ea typeface="Georgia"/>
                <a:cs typeface="Georgia"/>
                <a:sym typeface="Georgia"/>
              </a:rPr>
              <a:t>Data Preprocessing</a:t>
            </a:r>
            <a:endParaRPr b="1">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B8C2"/>
        </a:solidFill>
      </p:bgPr>
    </p:bg>
    <p:spTree>
      <p:nvGrpSpPr>
        <p:cNvPr id="113" name="Shape 113"/>
        <p:cNvGrpSpPr/>
        <p:nvPr/>
      </p:nvGrpSpPr>
      <p:grpSpPr>
        <a:xfrm>
          <a:off x="0" y="0"/>
          <a:ext cx="0" cy="0"/>
          <a:chOff x="0" y="0"/>
          <a:chExt cx="0" cy="0"/>
        </a:xfrm>
      </p:grpSpPr>
      <p:pic>
        <p:nvPicPr>
          <p:cNvPr id="114" name="Google Shape;114;p23"/>
          <p:cNvPicPr preferRelativeResize="0"/>
          <p:nvPr/>
        </p:nvPicPr>
        <p:blipFill>
          <a:blip r:embed="rId3">
            <a:alphaModFix/>
          </a:blip>
          <a:stretch>
            <a:fillRect/>
          </a:stretch>
        </p:blipFill>
        <p:spPr>
          <a:xfrm>
            <a:off x="1779600" y="152400"/>
            <a:ext cx="5584800" cy="4838700"/>
          </a:xfrm>
          <a:prstGeom prst="roundRect">
            <a:avLst>
              <a:gd fmla="val 10255" name="adj"/>
            </a:avLst>
          </a:prstGeom>
          <a:noFill/>
          <a:ln>
            <a:noFill/>
          </a:ln>
        </p:spPr>
      </p:pic>
      <p:grpSp>
        <p:nvGrpSpPr>
          <p:cNvPr id="115" name="Google Shape;115;p23"/>
          <p:cNvGrpSpPr/>
          <p:nvPr/>
        </p:nvGrpSpPr>
        <p:grpSpPr>
          <a:xfrm rot="10800000">
            <a:off x="6924625" y="2236775"/>
            <a:ext cx="1066150" cy="344400"/>
            <a:chOff x="801425" y="3380450"/>
            <a:chExt cx="1066150" cy="344400"/>
          </a:xfrm>
        </p:grpSpPr>
        <p:cxnSp>
          <p:nvCxnSpPr>
            <p:cNvPr id="116" name="Google Shape;116;p23"/>
            <p:cNvCxnSpPr/>
            <p:nvPr/>
          </p:nvCxnSpPr>
          <p:spPr>
            <a:xfrm rot="10800000">
              <a:off x="826575" y="3714750"/>
              <a:ext cx="1041000" cy="0"/>
            </a:xfrm>
            <a:prstGeom prst="straightConnector1">
              <a:avLst/>
            </a:prstGeom>
            <a:noFill/>
            <a:ln cap="flat" cmpd="sng" w="38100">
              <a:solidFill>
                <a:schemeClr val="dk2"/>
              </a:solidFill>
              <a:prstDash val="solid"/>
              <a:round/>
              <a:headEnd len="med" w="med" type="none"/>
              <a:tailEnd len="med" w="med" type="none"/>
            </a:ln>
          </p:spPr>
        </p:cxnSp>
        <p:cxnSp>
          <p:nvCxnSpPr>
            <p:cNvPr id="117" name="Google Shape;117;p23"/>
            <p:cNvCxnSpPr/>
            <p:nvPr/>
          </p:nvCxnSpPr>
          <p:spPr>
            <a:xfrm rot="10800000">
              <a:off x="801425" y="3380450"/>
              <a:ext cx="40800" cy="344400"/>
            </a:xfrm>
            <a:prstGeom prst="straightConnector1">
              <a:avLst/>
            </a:prstGeom>
            <a:noFill/>
            <a:ln cap="flat" cmpd="sng" w="38100">
              <a:solidFill>
                <a:schemeClr val="dk2"/>
              </a:solidFill>
              <a:prstDash val="solid"/>
              <a:round/>
              <a:headEnd len="med" w="med" type="none"/>
              <a:tailEnd len="med" w="med" type="triangle"/>
            </a:ln>
          </p:spPr>
        </p:cxnSp>
      </p:grpSp>
      <p:sp>
        <p:nvSpPr>
          <p:cNvPr id="118" name="Google Shape;118;p23"/>
          <p:cNvSpPr txBox="1"/>
          <p:nvPr/>
        </p:nvSpPr>
        <p:spPr>
          <a:xfrm>
            <a:off x="7709875" y="2495550"/>
            <a:ext cx="642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Georgia"/>
                <a:ea typeface="Georgia"/>
                <a:cs typeface="Georgia"/>
                <a:sym typeface="Georgia"/>
              </a:rPr>
              <a:t>text</a:t>
            </a:r>
            <a:endParaRPr/>
          </a:p>
        </p:txBody>
      </p:sp>
      <p:grpSp>
        <p:nvGrpSpPr>
          <p:cNvPr id="119" name="Google Shape;119;p23"/>
          <p:cNvGrpSpPr/>
          <p:nvPr/>
        </p:nvGrpSpPr>
        <p:grpSpPr>
          <a:xfrm>
            <a:off x="780325" y="3385200"/>
            <a:ext cx="1066150" cy="344400"/>
            <a:chOff x="801425" y="3380450"/>
            <a:chExt cx="1066150" cy="344400"/>
          </a:xfrm>
        </p:grpSpPr>
        <p:cxnSp>
          <p:nvCxnSpPr>
            <p:cNvPr id="120" name="Google Shape;120;p23"/>
            <p:cNvCxnSpPr/>
            <p:nvPr/>
          </p:nvCxnSpPr>
          <p:spPr>
            <a:xfrm rot="10800000">
              <a:off x="826575" y="3714750"/>
              <a:ext cx="1041000" cy="0"/>
            </a:xfrm>
            <a:prstGeom prst="straightConnector1">
              <a:avLst/>
            </a:prstGeom>
            <a:noFill/>
            <a:ln cap="flat" cmpd="sng" w="38100">
              <a:solidFill>
                <a:schemeClr val="dk2"/>
              </a:solidFill>
              <a:prstDash val="solid"/>
              <a:round/>
              <a:headEnd len="med" w="med" type="none"/>
              <a:tailEnd len="med" w="med" type="none"/>
            </a:ln>
          </p:spPr>
        </p:cxnSp>
        <p:cxnSp>
          <p:nvCxnSpPr>
            <p:cNvPr id="121" name="Google Shape;121;p23"/>
            <p:cNvCxnSpPr/>
            <p:nvPr/>
          </p:nvCxnSpPr>
          <p:spPr>
            <a:xfrm rot="10800000">
              <a:off x="801425" y="3380450"/>
              <a:ext cx="40800" cy="344400"/>
            </a:xfrm>
            <a:prstGeom prst="straightConnector1">
              <a:avLst/>
            </a:prstGeom>
            <a:noFill/>
            <a:ln cap="flat" cmpd="sng" w="38100">
              <a:solidFill>
                <a:schemeClr val="dk2"/>
              </a:solidFill>
              <a:prstDash val="solid"/>
              <a:round/>
              <a:headEnd len="med" w="med" type="none"/>
              <a:tailEnd len="med" w="med" type="triangle"/>
            </a:ln>
          </p:spPr>
        </p:cxnSp>
      </p:grpSp>
      <p:sp>
        <p:nvSpPr>
          <p:cNvPr id="122" name="Google Shape;122;p23"/>
          <p:cNvSpPr txBox="1"/>
          <p:nvPr/>
        </p:nvSpPr>
        <p:spPr>
          <a:xfrm>
            <a:off x="168725" y="2941950"/>
            <a:ext cx="1265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Georgia"/>
                <a:ea typeface="Georgia"/>
                <a:cs typeface="Georgia"/>
                <a:sym typeface="Georgia"/>
              </a:rPr>
              <a:t>Created_at</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764381" y="445025"/>
            <a:ext cx="7586664"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Georgia"/>
                <a:ea typeface="Georgia"/>
                <a:cs typeface="Georgia"/>
                <a:sym typeface="Georgia"/>
              </a:rPr>
              <a:t>Tweet </a:t>
            </a:r>
            <a:r>
              <a:rPr b="1" lang="en">
                <a:latin typeface="Georgia"/>
                <a:ea typeface="Georgia"/>
                <a:cs typeface="Georgia"/>
                <a:sym typeface="Georgia"/>
              </a:rPr>
              <a:t>Text Preprocessing</a:t>
            </a:r>
            <a:endParaRPr b="1">
              <a:latin typeface="Georgia"/>
              <a:ea typeface="Georgia"/>
              <a:cs typeface="Georgia"/>
              <a:sym typeface="Georgia"/>
            </a:endParaRPr>
          </a:p>
        </p:txBody>
      </p:sp>
      <p:sp>
        <p:nvSpPr>
          <p:cNvPr id="128" name="Google Shape;128;p24"/>
          <p:cNvSpPr txBox="1"/>
          <p:nvPr>
            <p:ph idx="1" type="body"/>
          </p:nvPr>
        </p:nvSpPr>
        <p:spPr>
          <a:xfrm>
            <a:off x="764380" y="1152475"/>
            <a:ext cx="7586665"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a:solidFill>
                  <a:schemeClr val="dk1"/>
                </a:solidFill>
                <a:latin typeface="Georgia"/>
                <a:ea typeface="Georgia"/>
                <a:cs typeface="Georgia"/>
                <a:sym typeface="Georgia"/>
              </a:rPr>
              <a:t>We perform the necessary text preprocessing steps on the Tweet text:</a:t>
            </a:r>
            <a:endParaRPr>
              <a:solidFill>
                <a:schemeClr val="dk1"/>
              </a:solidFill>
              <a:latin typeface="Georgia"/>
              <a:ea typeface="Georgia"/>
              <a:cs typeface="Georgia"/>
              <a:sym typeface="Georgia"/>
            </a:endParaRPr>
          </a:p>
          <a:p>
            <a:pPr indent="-342900" lvl="0" marL="457200" rtl="0" algn="l">
              <a:spcBef>
                <a:spcPts val="1200"/>
              </a:spcBef>
              <a:spcAft>
                <a:spcPts val="0"/>
              </a:spcAft>
              <a:buClr>
                <a:schemeClr val="dk1"/>
              </a:buClr>
              <a:buSzPts val="1800"/>
              <a:buFont typeface="Georgia"/>
              <a:buAutoNum type="arabicPeriod"/>
            </a:pPr>
            <a:r>
              <a:rPr lang="en">
                <a:solidFill>
                  <a:schemeClr val="dk1"/>
                </a:solidFill>
                <a:latin typeface="Georgia"/>
                <a:ea typeface="Georgia"/>
                <a:cs typeface="Georgia"/>
                <a:sym typeface="Georgia"/>
              </a:rPr>
              <a:t>Removal of links to </a:t>
            </a:r>
            <a:r>
              <a:rPr lang="en">
                <a:solidFill>
                  <a:schemeClr val="dk1"/>
                </a:solidFill>
                <a:latin typeface="Georgia"/>
                <a:ea typeface="Georgia"/>
                <a:cs typeface="Georgia"/>
                <a:sym typeface="Georgia"/>
              </a:rPr>
              <a:t>websites, such as news sites, youtube, etc.</a:t>
            </a:r>
            <a:endParaRPr>
              <a:solidFill>
                <a:schemeClr val="dk1"/>
              </a:solidFill>
              <a:latin typeface="Georgia"/>
              <a:ea typeface="Georgia"/>
              <a:cs typeface="Georgia"/>
              <a:sym typeface="Georgia"/>
            </a:endParaRPr>
          </a:p>
          <a:p>
            <a:pPr indent="-342900" lvl="0" marL="457200" rtl="0" algn="l">
              <a:spcBef>
                <a:spcPts val="0"/>
              </a:spcBef>
              <a:spcAft>
                <a:spcPts val="0"/>
              </a:spcAft>
              <a:buClr>
                <a:schemeClr val="dk1"/>
              </a:buClr>
              <a:buSzPts val="1800"/>
              <a:buFont typeface="Georgia"/>
              <a:buAutoNum type="arabicPeriod"/>
            </a:pPr>
            <a:r>
              <a:rPr lang="en">
                <a:solidFill>
                  <a:schemeClr val="dk1"/>
                </a:solidFill>
                <a:latin typeface="Georgia"/>
                <a:ea typeface="Georgia"/>
                <a:cs typeface="Georgia"/>
                <a:sym typeface="Georgia"/>
              </a:rPr>
              <a:t>Removal of punctuation and special characters.</a:t>
            </a:r>
            <a:endParaRPr>
              <a:solidFill>
                <a:schemeClr val="dk1"/>
              </a:solidFill>
              <a:latin typeface="Georgia"/>
              <a:ea typeface="Georgia"/>
              <a:cs typeface="Georgia"/>
              <a:sym typeface="Georgia"/>
            </a:endParaRPr>
          </a:p>
          <a:p>
            <a:pPr indent="-342900" lvl="0" marL="457200" rtl="0" algn="l">
              <a:spcBef>
                <a:spcPts val="0"/>
              </a:spcBef>
              <a:spcAft>
                <a:spcPts val="0"/>
              </a:spcAft>
              <a:buClr>
                <a:schemeClr val="dk1"/>
              </a:buClr>
              <a:buSzPts val="1800"/>
              <a:buFont typeface="Georgia"/>
              <a:buAutoNum type="arabicPeriod"/>
            </a:pPr>
            <a:r>
              <a:rPr lang="en">
                <a:solidFill>
                  <a:schemeClr val="dk1"/>
                </a:solidFill>
                <a:latin typeface="Georgia"/>
                <a:ea typeface="Georgia"/>
                <a:cs typeface="Georgia"/>
                <a:sym typeface="Georgia"/>
              </a:rPr>
              <a:t>Removal of stop words</a:t>
            </a:r>
            <a:endParaRPr>
              <a:solidFill>
                <a:schemeClr val="dk1"/>
              </a:solidFill>
              <a:latin typeface="Georgia"/>
              <a:ea typeface="Georgia"/>
              <a:cs typeface="Georgia"/>
              <a:sym typeface="Georgia"/>
            </a:endParaRPr>
          </a:p>
          <a:p>
            <a:pPr indent="-342900" lvl="0" marL="457200" rtl="0" algn="l">
              <a:spcBef>
                <a:spcPts val="0"/>
              </a:spcBef>
              <a:spcAft>
                <a:spcPts val="0"/>
              </a:spcAft>
              <a:buClr>
                <a:schemeClr val="dk1"/>
              </a:buClr>
              <a:buSzPts val="1800"/>
              <a:buFont typeface="Georgia"/>
              <a:buAutoNum type="arabicPeriod"/>
            </a:pPr>
            <a:r>
              <a:rPr lang="en">
                <a:solidFill>
                  <a:schemeClr val="dk1"/>
                </a:solidFill>
                <a:latin typeface="Georgia"/>
                <a:ea typeface="Georgia"/>
                <a:cs typeface="Georgia"/>
                <a:sym typeface="Georgia"/>
              </a:rPr>
              <a:t>Performing of stemming.</a:t>
            </a:r>
            <a:endParaRPr>
              <a:solidFill>
                <a:schemeClr val="dk1"/>
              </a:solidFill>
              <a:latin typeface="Georgia"/>
              <a:ea typeface="Georgia"/>
              <a:cs typeface="Georgia"/>
              <a:sym typeface="Georgia"/>
            </a:endParaRPr>
          </a:p>
          <a:p>
            <a:pPr indent="-342900" lvl="0" marL="457200" rtl="0" algn="l">
              <a:spcBef>
                <a:spcPts val="0"/>
              </a:spcBef>
              <a:spcAft>
                <a:spcPts val="0"/>
              </a:spcAft>
              <a:buClr>
                <a:schemeClr val="dk1"/>
              </a:buClr>
              <a:buSzPts val="1800"/>
              <a:buFont typeface="Georgia"/>
              <a:buAutoNum type="arabicPeriod"/>
            </a:pPr>
            <a:r>
              <a:rPr lang="en">
                <a:solidFill>
                  <a:schemeClr val="dk1"/>
                </a:solidFill>
                <a:latin typeface="Georgia"/>
                <a:ea typeface="Georgia"/>
                <a:cs typeface="Georgia"/>
                <a:sym typeface="Georgia"/>
              </a:rPr>
              <a:t>Performing lemmatization.</a:t>
            </a:r>
            <a:endParaRPr>
              <a:solidFill>
                <a:schemeClr val="dk1"/>
              </a:solidFill>
              <a:latin typeface="Georgia"/>
              <a:ea typeface="Georgia"/>
              <a:cs typeface="Georgia"/>
              <a:sym typeface="Georgia"/>
            </a:endParaRPr>
          </a:p>
          <a:p>
            <a:pPr indent="-342900" lvl="0" marL="457200" rtl="0" algn="l">
              <a:spcBef>
                <a:spcPts val="0"/>
              </a:spcBef>
              <a:spcAft>
                <a:spcPts val="0"/>
              </a:spcAft>
              <a:buClr>
                <a:schemeClr val="dk1"/>
              </a:buClr>
              <a:buSzPts val="1800"/>
              <a:buFont typeface="Georgia"/>
              <a:buAutoNum type="arabicPeriod"/>
            </a:pPr>
            <a:r>
              <a:rPr lang="en">
                <a:solidFill>
                  <a:schemeClr val="dk1"/>
                </a:solidFill>
                <a:latin typeface="Georgia"/>
                <a:ea typeface="Georgia"/>
                <a:cs typeface="Georgia"/>
                <a:sym typeface="Georgia"/>
              </a:rPr>
              <a:t>Creation of n-grams of chosen topics in the form of keywords.</a:t>
            </a:r>
            <a:endParaRPr sz="1900"/>
          </a:p>
          <a:p>
            <a:pPr indent="-342900" lvl="0" marL="457200" rtl="0" algn="l">
              <a:spcBef>
                <a:spcPts val="0"/>
              </a:spcBef>
              <a:spcAft>
                <a:spcPts val="0"/>
              </a:spcAft>
              <a:buClr>
                <a:schemeClr val="dk1"/>
              </a:buClr>
              <a:buSzPts val="1800"/>
              <a:buFont typeface="Georgia"/>
              <a:buAutoNum type="arabicPeriod"/>
            </a:pPr>
            <a:r>
              <a:rPr lang="en">
                <a:solidFill>
                  <a:schemeClr val="dk1"/>
                </a:solidFill>
                <a:latin typeface="Georgia"/>
                <a:ea typeface="Georgia"/>
                <a:cs typeface="Georgia"/>
                <a:sym typeface="Georgia"/>
              </a:rPr>
              <a:t>Creation of corpus that is to be analyzed.</a:t>
            </a:r>
            <a:endParaRPr>
              <a:solidFill>
                <a:schemeClr val="dk1"/>
              </a:solidFill>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AB8C2"/>
        </a:solidFill>
      </p:bgPr>
    </p:bg>
    <p:spTree>
      <p:nvGrpSpPr>
        <p:cNvPr id="132" name="Shape 132"/>
        <p:cNvGrpSpPr/>
        <p:nvPr/>
      </p:nvGrpSpPr>
      <p:grpSpPr>
        <a:xfrm>
          <a:off x="0" y="0"/>
          <a:ext cx="0" cy="0"/>
          <a:chOff x="0" y="0"/>
          <a:chExt cx="0" cy="0"/>
        </a:xfrm>
      </p:grpSpPr>
      <p:pic>
        <p:nvPicPr>
          <p:cNvPr id="133" name="Google Shape;133;p25"/>
          <p:cNvPicPr preferRelativeResize="0"/>
          <p:nvPr/>
        </p:nvPicPr>
        <p:blipFill rotWithShape="1">
          <a:blip r:embed="rId3">
            <a:alphaModFix/>
          </a:blip>
          <a:srcRect b="42935" l="0" r="0" t="0"/>
          <a:stretch/>
        </p:blipFill>
        <p:spPr>
          <a:xfrm>
            <a:off x="1023900" y="1335150"/>
            <a:ext cx="7096200" cy="2473200"/>
          </a:xfrm>
          <a:prstGeom prst="roundRect">
            <a:avLst>
              <a:gd fmla="val 16667" name="adj"/>
            </a:avLst>
          </a:prstGeom>
          <a:noFill/>
          <a:ln>
            <a:noFill/>
          </a:ln>
        </p:spPr>
      </p:pic>
      <p:pic>
        <p:nvPicPr>
          <p:cNvPr id="134" name="Google Shape;134;p25"/>
          <p:cNvPicPr preferRelativeResize="0"/>
          <p:nvPr/>
        </p:nvPicPr>
        <p:blipFill>
          <a:blip r:embed="rId4">
            <a:alphaModFix/>
          </a:blip>
          <a:stretch>
            <a:fillRect/>
          </a:stretch>
        </p:blipFill>
        <p:spPr>
          <a:xfrm>
            <a:off x="3209225" y="1509725"/>
            <a:ext cx="276225" cy="238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1668600" y="2150850"/>
            <a:ext cx="58068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000"/>
              <a:buNone/>
            </a:pPr>
            <a:r>
              <a:rPr b="1" lang="en">
                <a:latin typeface="Georgia"/>
                <a:ea typeface="Georgia"/>
                <a:cs typeface="Georgia"/>
                <a:sym typeface="Georgia"/>
              </a:rPr>
              <a:t>Data Visualization </a:t>
            </a:r>
            <a:endParaRPr b="1">
              <a:latin typeface="Georgia"/>
              <a:ea typeface="Georgia"/>
              <a:cs typeface="Georgia"/>
              <a:sym typeface="Georg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7"/>
          <p:cNvPicPr preferRelativeResize="0"/>
          <p:nvPr/>
        </p:nvPicPr>
        <p:blipFill>
          <a:blip r:embed="rId3">
            <a:alphaModFix/>
          </a:blip>
          <a:stretch>
            <a:fillRect/>
          </a:stretch>
        </p:blipFill>
        <p:spPr>
          <a:xfrm>
            <a:off x="179075" y="829075"/>
            <a:ext cx="6839876" cy="3388950"/>
          </a:xfrm>
          <a:prstGeom prst="rect">
            <a:avLst/>
          </a:prstGeom>
          <a:noFill/>
          <a:ln>
            <a:noFill/>
          </a:ln>
        </p:spPr>
      </p:pic>
      <p:sp>
        <p:nvSpPr>
          <p:cNvPr id="145" name="Google Shape;145;p27"/>
          <p:cNvSpPr txBox="1"/>
          <p:nvPr/>
        </p:nvSpPr>
        <p:spPr>
          <a:xfrm>
            <a:off x="7172400" y="578400"/>
            <a:ext cx="1753200" cy="409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600">
                <a:solidFill>
                  <a:schemeClr val="dk1"/>
                </a:solidFill>
                <a:latin typeface="Georgia"/>
                <a:ea typeface="Georgia"/>
                <a:cs typeface="Georgia"/>
                <a:sym typeface="Georgia"/>
              </a:rPr>
              <a:t>As evident from the plot, there is a large proportion of the Americans being vocal about the speculation about the crisis, involvement in which is deterministic for diplomatic relations between the US and Russia</a:t>
            </a:r>
            <a:endParaRPr sz="1200">
              <a:solidFill>
                <a:schemeClr val="dk1"/>
              </a:solidFill>
              <a:latin typeface="Georgia"/>
              <a:ea typeface="Georgia"/>
              <a:cs typeface="Georgia"/>
              <a:sym typeface="Georgia"/>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nvSpPr>
        <p:spPr>
          <a:xfrm>
            <a:off x="7181050" y="670850"/>
            <a:ext cx="1341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Georgia"/>
                <a:ea typeface="Georgia"/>
                <a:cs typeface="Georgia"/>
                <a:sym typeface="Georgia"/>
              </a:rPr>
              <a:t>Word cloud showing the prominent words in the tweets.</a:t>
            </a:r>
            <a:endParaRPr sz="1800">
              <a:latin typeface="Georgia"/>
              <a:ea typeface="Georgia"/>
              <a:cs typeface="Georgia"/>
              <a:sym typeface="Georgia"/>
            </a:endParaRPr>
          </a:p>
        </p:txBody>
      </p:sp>
      <p:pic>
        <p:nvPicPr>
          <p:cNvPr id="151" name="Google Shape;151;p28"/>
          <p:cNvPicPr preferRelativeResize="0"/>
          <p:nvPr/>
        </p:nvPicPr>
        <p:blipFill rotWithShape="1">
          <a:blip r:embed="rId3">
            <a:alphaModFix/>
          </a:blip>
          <a:srcRect b="7715" l="729" r="719" t="0"/>
          <a:stretch/>
        </p:blipFill>
        <p:spPr>
          <a:xfrm>
            <a:off x="610775" y="608725"/>
            <a:ext cx="6358500" cy="3273300"/>
          </a:xfrm>
          <a:prstGeom prst="roundRect">
            <a:avLst>
              <a:gd fmla="val 16667" name="adj"/>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9"/>
          <p:cNvPicPr preferRelativeResize="0"/>
          <p:nvPr/>
        </p:nvPicPr>
        <p:blipFill>
          <a:blip r:embed="rId3">
            <a:alphaModFix/>
          </a:blip>
          <a:stretch>
            <a:fillRect/>
          </a:stretch>
        </p:blipFill>
        <p:spPr>
          <a:xfrm>
            <a:off x="918300" y="764899"/>
            <a:ext cx="3212176" cy="3613700"/>
          </a:xfrm>
          <a:prstGeom prst="rect">
            <a:avLst/>
          </a:prstGeom>
          <a:noFill/>
          <a:ln>
            <a:noFill/>
          </a:ln>
        </p:spPr>
      </p:pic>
      <p:sp>
        <p:nvSpPr>
          <p:cNvPr id="157" name="Google Shape;157;p29"/>
          <p:cNvSpPr txBox="1"/>
          <p:nvPr/>
        </p:nvSpPr>
        <p:spPr>
          <a:xfrm>
            <a:off x="4770800" y="764900"/>
            <a:ext cx="3006600" cy="20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Georgia"/>
                <a:ea typeface="Georgia"/>
                <a:cs typeface="Georgia"/>
                <a:sym typeface="Georgia"/>
              </a:rPr>
              <a:t>Besides the neutral sentiment, that includes discussions of the crisis, its impact on the globe, etc., there is a large positive sentiment of tweets in our data.</a:t>
            </a:r>
            <a:endParaRPr sz="1700">
              <a:latin typeface="Georgia"/>
              <a:ea typeface="Georgia"/>
              <a:cs typeface="Georgia"/>
              <a:sym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30"/>
          <p:cNvPicPr preferRelativeResize="0"/>
          <p:nvPr/>
        </p:nvPicPr>
        <p:blipFill>
          <a:blip r:embed="rId3">
            <a:alphaModFix/>
          </a:blip>
          <a:stretch>
            <a:fillRect/>
          </a:stretch>
        </p:blipFill>
        <p:spPr>
          <a:xfrm>
            <a:off x="1006862" y="684538"/>
            <a:ext cx="7130274" cy="37744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1613850" y="1773150"/>
            <a:ext cx="5916300" cy="159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latin typeface="Georgia"/>
                <a:ea typeface="Georgia"/>
                <a:cs typeface="Georgia"/>
                <a:sym typeface="Georgia"/>
              </a:rPr>
              <a:t>Approach To Analysis &amp; Model Building I</a:t>
            </a:r>
            <a:endParaRPr b="1">
              <a:latin typeface="Georgia"/>
              <a:ea typeface="Georgia"/>
              <a:cs typeface="Georgia"/>
              <a:sym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1377450" y="1041800"/>
            <a:ext cx="6227700" cy="8955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Georgia"/>
                <a:ea typeface="Georgia"/>
                <a:cs typeface="Georgia"/>
                <a:sym typeface="Georgia"/>
              </a:rPr>
              <a:t>Approach To Analysis &amp; Model Building  I</a:t>
            </a:r>
            <a:endParaRPr b="1">
              <a:latin typeface="Georgia"/>
              <a:ea typeface="Georgia"/>
              <a:cs typeface="Georgia"/>
              <a:sym typeface="Georgia"/>
            </a:endParaRPr>
          </a:p>
        </p:txBody>
      </p:sp>
      <p:sp>
        <p:nvSpPr>
          <p:cNvPr id="173" name="Google Shape;173;p32"/>
          <p:cNvSpPr txBox="1"/>
          <p:nvPr>
            <p:ph idx="1" type="body"/>
          </p:nvPr>
        </p:nvSpPr>
        <p:spPr>
          <a:xfrm>
            <a:off x="1377450" y="1937400"/>
            <a:ext cx="6389100" cy="1268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solidFill>
                  <a:schemeClr val="dk1"/>
                </a:solidFill>
                <a:latin typeface="Georgia"/>
                <a:ea typeface="Georgia"/>
                <a:cs typeface="Georgia"/>
                <a:sym typeface="Georgia"/>
              </a:rPr>
              <a:t>Determine how prevalent the topic of Ukraine’s socio-economic conditions  is in the tweets made in context of the Russo-Ukrainian crisis.</a:t>
            </a:r>
            <a:endParaRPr>
              <a:solidFill>
                <a:schemeClr val="dk1"/>
              </a:solidFill>
              <a:latin typeface="Georgia"/>
              <a:ea typeface="Georgia"/>
              <a:cs typeface="Georgia"/>
              <a:sym typeface="Georg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857250" y="445025"/>
            <a:ext cx="7279481"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Georgia"/>
                <a:ea typeface="Georgia"/>
                <a:cs typeface="Georgia"/>
                <a:sym typeface="Georgia"/>
              </a:rPr>
              <a:t>Relevancy &amp; Overlap Of Topics</a:t>
            </a:r>
            <a:endParaRPr b="1">
              <a:latin typeface="Georgia"/>
              <a:ea typeface="Georgia"/>
              <a:cs typeface="Georgia"/>
              <a:sym typeface="Georgia"/>
            </a:endParaRPr>
          </a:p>
        </p:txBody>
      </p:sp>
      <p:sp>
        <p:nvSpPr>
          <p:cNvPr id="179" name="Google Shape;179;p33"/>
          <p:cNvSpPr txBox="1"/>
          <p:nvPr>
            <p:ph idx="1" type="body"/>
          </p:nvPr>
        </p:nvSpPr>
        <p:spPr>
          <a:xfrm>
            <a:off x="857250" y="1152475"/>
            <a:ext cx="7279481" cy="3026619"/>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solidFill>
                  <a:schemeClr val="dk1"/>
                </a:solidFill>
                <a:latin typeface="Georgia"/>
                <a:ea typeface="Georgia"/>
                <a:cs typeface="Georgia"/>
                <a:sym typeface="Georgia"/>
              </a:rPr>
              <a:t>For making appropriate predictions, we are using the LDA (Latent Dirichlet Allocation) algorithm which is an unsupervised machine-learning model that takes documents as input and finds topics as output. The model also says in what percentage each document talks about each topic. </a:t>
            </a:r>
            <a:endParaRPr>
              <a:solidFill>
                <a:schemeClr val="dk1"/>
              </a:solidFill>
              <a:latin typeface="Georgia"/>
              <a:ea typeface="Georgia"/>
              <a:cs typeface="Georgia"/>
              <a:sym typeface="Georgia"/>
            </a:endParaRPr>
          </a:p>
          <a:p>
            <a:pPr indent="0" lvl="0" marL="0" rtl="0" algn="l">
              <a:lnSpc>
                <a:spcPct val="115000"/>
              </a:lnSpc>
              <a:spcBef>
                <a:spcPts val="0"/>
              </a:spcBef>
              <a:spcAft>
                <a:spcPts val="0"/>
              </a:spcAft>
              <a:buSzPts val="1800"/>
              <a:buNone/>
            </a:pPr>
            <a:r>
              <a:t/>
            </a:r>
            <a:endParaRPr>
              <a:solidFill>
                <a:schemeClr val="dk1"/>
              </a:solidFill>
              <a:latin typeface="Georgia"/>
              <a:ea typeface="Georgia"/>
              <a:cs typeface="Georgia"/>
              <a:sym typeface="Georgia"/>
            </a:endParaRPr>
          </a:p>
          <a:p>
            <a:pPr indent="0" lvl="0" marL="0" rtl="0" algn="l">
              <a:lnSpc>
                <a:spcPct val="115000"/>
              </a:lnSpc>
              <a:spcBef>
                <a:spcPts val="0"/>
              </a:spcBef>
              <a:spcAft>
                <a:spcPts val="0"/>
              </a:spcAft>
              <a:buSzPts val="1800"/>
              <a:buNone/>
            </a:pPr>
            <a:r>
              <a:rPr lang="en">
                <a:solidFill>
                  <a:schemeClr val="dk1"/>
                </a:solidFill>
                <a:latin typeface="Georgia"/>
                <a:ea typeface="Georgia"/>
                <a:cs typeface="Georgia"/>
                <a:sym typeface="Georgia"/>
              </a:rPr>
              <a:t>A topic is represented as a weighted list of words:</a:t>
            </a:r>
            <a:endParaRPr sz="1900"/>
          </a:p>
          <a:p>
            <a:pPr indent="0" lvl="0" marL="0" rtl="0" algn="l">
              <a:spcBef>
                <a:spcPts val="1200"/>
              </a:spcBef>
              <a:spcAft>
                <a:spcPts val="0"/>
              </a:spcAft>
              <a:buClr>
                <a:schemeClr val="dk1"/>
              </a:buClr>
              <a:buSzPts val="1800"/>
              <a:buFont typeface="Arial"/>
              <a:buNone/>
            </a:pPr>
            <a:r>
              <a:rPr lang="en">
                <a:solidFill>
                  <a:schemeClr val="dk1"/>
                </a:solidFill>
                <a:latin typeface="Georgia"/>
                <a:ea typeface="Georgia"/>
                <a:cs typeface="Georgia"/>
                <a:sym typeface="Georgia"/>
              </a:rPr>
              <a:t>Ukraine * 0.9 | Russia * 0.65 | peace * 0.19 |…</a:t>
            </a:r>
            <a:endParaRPr>
              <a:solidFill>
                <a:schemeClr val="dk1"/>
              </a:solidFill>
              <a:latin typeface="Georgia"/>
              <a:ea typeface="Georgia"/>
              <a:cs typeface="Georgia"/>
              <a:sym typeface="Georgi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4"/>
          <p:cNvSpPr txBox="1"/>
          <p:nvPr>
            <p:ph type="title"/>
          </p:nvPr>
        </p:nvSpPr>
        <p:spPr>
          <a:xfrm>
            <a:off x="857250" y="445025"/>
            <a:ext cx="72795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Georgia"/>
                <a:ea typeface="Georgia"/>
                <a:cs typeface="Georgia"/>
                <a:sym typeface="Georgia"/>
              </a:rPr>
              <a:t>Significance Of LDA Algorithm </a:t>
            </a:r>
            <a:endParaRPr b="1">
              <a:latin typeface="Georgia"/>
              <a:ea typeface="Georgia"/>
              <a:cs typeface="Georgia"/>
              <a:sym typeface="Georgia"/>
            </a:endParaRPr>
          </a:p>
        </p:txBody>
      </p:sp>
      <p:sp>
        <p:nvSpPr>
          <p:cNvPr id="185" name="Google Shape;185;p34"/>
          <p:cNvSpPr txBox="1"/>
          <p:nvPr>
            <p:ph idx="1" type="body"/>
          </p:nvPr>
        </p:nvSpPr>
        <p:spPr>
          <a:xfrm>
            <a:off x="857250" y="1152475"/>
            <a:ext cx="7279500" cy="302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Georgia"/>
                <a:ea typeface="Georgia"/>
                <a:cs typeface="Georgia"/>
                <a:sym typeface="Georgia"/>
              </a:rPr>
              <a:t>From our considered tweet text, it was difficult to derive a problem/topic to focus on, so we used LDA to see the relevancy of topics, as in understand what topics are more talked about.</a:t>
            </a:r>
            <a:endParaRPr>
              <a:solidFill>
                <a:schemeClr val="dk1"/>
              </a:solidFill>
              <a:latin typeface="Georgia"/>
              <a:ea typeface="Georgia"/>
              <a:cs typeface="Georgia"/>
              <a:sym typeface="Georgia"/>
            </a:endParaRPr>
          </a:p>
          <a:p>
            <a:pPr indent="0" lvl="0" marL="0" rtl="0" algn="l">
              <a:lnSpc>
                <a:spcPct val="115000"/>
              </a:lnSpc>
              <a:spcBef>
                <a:spcPts val="1200"/>
              </a:spcBef>
              <a:spcAft>
                <a:spcPts val="0"/>
              </a:spcAft>
              <a:buSzPts val="1100"/>
              <a:buNone/>
            </a:pPr>
            <a:r>
              <a:rPr lang="en">
                <a:solidFill>
                  <a:schemeClr val="dk1"/>
                </a:solidFill>
                <a:latin typeface="Georgia"/>
                <a:ea typeface="Georgia"/>
                <a:cs typeface="Georgia"/>
                <a:sym typeface="Georgia"/>
              </a:rPr>
              <a:t>By performing LDA, we derived that “</a:t>
            </a:r>
            <a:r>
              <a:rPr lang="en" u="sng">
                <a:solidFill>
                  <a:schemeClr val="dk1"/>
                </a:solidFill>
                <a:latin typeface="Georgia"/>
                <a:ea typeface="Georgia"/>
                <a:cs typeface="Georgia"/>
                <a:sym typeface="Georgia"/>
              </a:rPr>
              <a:t>economy</a:t>
            </a:r>
            <a:r>
              <a:rPr lang="en">
                <a:solidFill>
                  <a:schemeClr val="dk1"/>
                </a:solidFill>
                <a:latin typeface="Georgia"/>
                <a:ea typeface="Georgia"/>
                <a:cs typeface="Georgia"/>
                <a:sym typeface="Georgia"/>
              </a:rPr>
              <a:t>” was a highly significant topic, so we decide to focus on the same. From our domain understanding we know that we need to try to forecast the situation of the Ukrainian economy. This can be derived from the user sentiment with regards to it, which may or may not align with actual events. </a:t>
            </a:r>
            <a:endParaRPr>
              <a:solidFill>
                <a:schemeClr val="dk1"/>
              </a:solidFill>
              <a:latin typeface="Georgia"/>
              <a:ea typeface="Georgia"/>
              <a:cs typeface="Georgia"/>
              <a:sym typeface="Georgi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5"/>
          <p:cNvPicPr preferRelativeResize="0"/>
          <p:nvPr/>
        </p:nvPicPr>
        <p:blipFill>
          <a:blip r:embed="rId3">
            <a:alphaModFix/>
          </a:blip>
          <a:stretch>
            <a:fillRect/>
          </a:stretch>
        </p:blipFill>
        <p:spPr>
          <a:xfrm>
            <a:off x="532450" y="724824"/>
            <a:ext cx="6281199" cy="3693876"/>
          </a:xfrm>
          <a:prstGeom prst="rect">
            <a:avLst/>
          </a:prstGeom>
          <a:noFill/>
          <a:ln>
            <a:noFill/>
          </a:ln>
        </p:spPr>
      </p:pic>
      <p:sp>
        <p:nvSpPr>
          <p:cNvPr id="191" name="Google Shape;191;p35"/>
          <p:cNvSpPr txBox="1"/>
          <p:nvPr/>
        </p:nvSpPr>
        <p:spPr>
          <a:xfrm>
            <a:off x="7194775" y="734775"/>
            <a:ext cx="1520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Georgia"/>
                <a:ea typeface="Georgia"/>
                <a:cs typeface="Georgia"/>
                <a:sym typeface="Georgia"/>
              </a:rPr>
              <a:t>LDA Plot</a:t>
            </a:r>
            <a:endParaRPr sz="1600">
              <a:latin typeface="Georgia"/>
              <a:ea typeface="Georgia"/>
              <a:cs typeface="Georgia"/>
              <a:sym typeface="Georgi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36"/>
          <p:cNvPicPr preferRelativeResize="0"/>
          <p:nvPr/>
        </p:nvPicPr>
        <p:blipFill>
          <a:blip r:embed="rId3">
            <a:alphaModFix/>
          </a:blip>
          <a:stretch>
            <a:fillRect/>
          </a:stretch>
        </p:blipFill>
        <p:spPr>
          <a:xfrm>
            <a:off x="611200" y="524150"/>
            <a:ext cx="6271800" cy="3681000"/>
          </a:xfrm>
          <a:prstGeom prst="roundRect">
            <a:avLst>
              <a:gd fmla="val 16667" name="adj"/>
            </a:avLst>
          </a:prstGeom>
          <a:noFill/>
          <a:ln>
            <a:noFill/>
          </a:ln>
        </p:spPr>
      </p:pic>
      <p:sp>
        <p:nvSpPr>
          <p:cNvPr id="197" name="Google Shape;197;p36"/>
          <p:cNvSpPr txBox="1"/>
          <p:nvPr/>
        </p:nvSpPr>
        <p:spPr>
          <a:xfrm>
            <a:off x="7056775" y="608775"/>
            <a:ext cx="17268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Georgia"/>
                <a:ea typeface="Georgia"/>
                <a:cs typeface="Georgia"/>
                <a:sym typeface="Georgia"/>
              </a:rPr>
              <a:t>Companies with a significant impact on the Russian economy</a:t>
            </a:r>
            <a:endParaRPr sz="1600">
              <a:latin typeface="Georgia"/>
              <a:ea typeface="Georgia"/>
              <a:cs typeface="Georgia"/>
              <a:sym typeface="Georgi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7"/>
          <p:cNvSpPr txBox="1"/>
          <p:nvPr>
            <p:ph type="title"/>
          </p:nvPr>
        </p:nvSpPr>
        <p:spPr>
          <a:xfrm>
            <a:off x="1484850" y="1755300"/>
            <a:ext cx="6174300" cy="16329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b="1" lang="en">
                <a:latin typeface="Georgia"/>
                <a:ea typeface="Georgia"/>
                <a:cs typeface="Georgia"/>
                <a:sym typeface="Georgia"/>
              </a:rPr>
              <a:t>Question, Analysis &amp; Inference</a:t>
            </a:r>
            <a:endParaRPr b="1">
              <a:latin typeface="Georgia"/>
              <a:ea typeface="Georgia"/>
              <a:cs typeface="Georgia"/>
              <a:sym typeface="Georgi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8"/>
          <p:cNvSpPr txBox="1"/>
          <p:nvPr>
            <p:ph type="title"/>
          </p:nvPr>
        </p:nvSpPr>
        <p:spPr>
          <a:xfrm>
            <a:off x="1026400" y="445025"/>
            <a:ext cx="6677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Georgia"/>
                <a:ea typeface="Georgia"/>
                <a:cs typeface="Georgia"/>
                <a:sym typeface="Georgia"/>
              </a:rPr>
              <a:t>Question 1</a:t>
            </a:r>
            <a:endParaRPr b="1">
              <a:latin typeface="Georgia"/>
              <a:ea typeface="Georgia"/>
              <a:cs typeface="Georgia"/>
              <a:sym typeface="Georgia"/>
            </a:endParaRPr>
          </a:p>
        </p:txBody>
      </p:sp>
      <p:sp>
        <p:nvSpPr>
          <p:cNvPr id="208" name="Google Shape;208;p38"/>
          <p:cNvSpPr txBox="1"/>
          <p:nvPr>
            <p:ph idx="1" type="body"/>
          </p:nvPr>
        </p:nvSpPr>
        <p:spPr>
          <a:xfrm>
            <a:off x="1026400" y="1152475"/>
            <a:ext cx="6781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sz="1900">
                <a:solidFill>
                  <a:schemeClr val="dk1"/>
                </a:solidFill>
                <a:latin typeface="Georgia"/>
                <a:ea typeface="Georgia"/>
                <a:cs typeface="Georgia"/>
                <a:sym typeface="Georgia"/>
              </a:rPr>
              <a:t>“What is the general sentiment regarding the situation and further developments that can take place in the Ukrainian </a:t>
            </a:r>
            <a:r>
              <a:rPr i="1" lang="en" sz="1900">
                <a:solidFill>
                  <a:schemeClr val="dk1"/>
                </a:solidFill>
                <a:latin typeface="Georgia"/>
                <a:ea typeface="Georgia"/>
                <a:cs typeface="Georgia"/>
                <a:sym typeface="Georgia"/>
              </a:rPr>
              <a:t>economy</a:t>
            </a:r>
            <a:r>
              <a:rPr i="1" lang="en" sz="1900">
                <a:solidFill>
                  <a:schemeClr val="dk1"/>
                </a:solidFill>
                <a:latin typeface="Georgia"/>
                <a:ea typeface="Georgia"/>
                <a:cs typeface="Georgia"/>
                <a:sym typeface="Georgia"/>
              </a:rPr>
              <a:t> gravely affected by the war?”</a:t>
            </a:r>
            <a:endParaRPr i="1" sz="1900">
              <a:solidFill>
                <a:schemeClr val="dk1"/>
              </a:solidFill>
              <a:latin typeface="Georgia"/>
              <a:ea typeface="Georgia"/>
              <a:cs typeface="Georgia"/>
              <a:sym typeface="Georgia"/>
            </a:endParaRPr>
          </a:p>
          <a:p>
            <a:pPr indent="0" lvl="0" marL="0" rtl="0" algn="l">
              <a:spcBef>
                <a:spcPts val="0"/>
              </a:spcBef>
              <a:spcAft>
                <a:spcPts val="0"/>
              </a:spcAft>
              <a:buNone/>
            </a:pPr>
            <a:r>
              <a:t/>
            </a:r>
            <a:endParaRPr sz="1900">
              <a:solidFill>
                <a:schemeClr val="dk1"/>
              </a:solidFill>
              <a:latin typeface="Georgia"/>
              <a:ea typeface="Georgia"/>
              <a:cs typeface="Georgia"/>
              <a:sym typeface="Georgia"/>
            </a:endParaRPr>
          </a:p>
          <a:p>
            <a:pPr indent="0" lvl="0" marL="0" rtl="0" algn="l">
              <a:spcBef>
                <a:spcPts val="0"/>
              </a:spcBef>
              <a:spcAft>
                <a:spcPts val="0"/>
              </a:spcAft>
              <a:buNone/>
            </a:pPr>
            <a:r>
              <a:rPr lang="en" sz="1900">
                <a:solidFill>
                  <a:schemeClr val="dk1"/>
                </a:solidFill>
                <a:latin typeface="Georgia"/>
                <a:ea typeface="Georgia"/>
                <a:cs typeface="Georgia"/>
                <a:sym typeface="Georgia"/>
              </a:rPr>
              <a:t>Here, we are looking into the </a:t>
            </a:r>
            <a:r>
              <a:rPr lang="en" sz="1900">
                <a:solidFill>
                  <a:schemeClr val="dk1"/>
                </a:solidFill>
                <a:latin typeface="Georgia"/>
                <a:ea typeface="Georgia"/>
                <a:cs typeface="Georgia"/>
                <a:sym typeface="Georgia"/>
              </a:rPr>
              <a:t>analysis</a:t>
            </a:r>
            <a:r>
              <a:rPr lang="en" sz="1900">
                <a:solidFill>
                  <a:schemeClr val="dk1"/>
                </a:solidFill>
                <a:latin typeface="Georgia"/>
                <a:ea typeface="Georgia"/>
                <a:cs typeface="Georgia"/>
                <a:sym typeface="Georgia"/>
              </a:rPr>
              <a:t> of a multitude of factors that directly or indirectly impact the Ukrainian as well as global economy.</a:t>
            </a:r>
            <a:endParaRPr sz="1900">
              <a:solidFill>
                <a:schemeClr val="dk1"/>
              </a:solidFill>
              <a:latin typeface="Georgia"/>
              <a:ea typeface="Georgia"/>
              <a:cs typeface="Georgia"/>
              <a:sym typeface="Georgi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9"/>
          <p:cNvSpPr txBox="1"/>
          <p:nvPr>
            <p:ph type="title"/>
          </p:nvPr>
        </p:nvSpPr>
        <p:spPr>
          <a:xfrm>
            <a:off x="1613850" y="1773150"/>
            <a:ext cx="5916300" cy="159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latin typeface="Georgia"/>
                <a:ea typeface="Georgia"/>
                <a:cs typeface="Georgia"/>
                <a:sym typeface="Georgia"/>
              </a:rPr>
              <a:t>Approach To Analysis &amp; Model Building II</a:t>
            </a:r>
            <a:endParaRPr b="1">
              <a:latin typeface="Georgia"/>
              <a:ea typeface="Georgia"/>
              <a:cs typeface="Georgia"/>
              <a:sym typeface="Georgi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txBox="1"/>
          <p:nvPr>
            <p:ph type="title"/>
          </p:nvPr>
        </p:nvSpPr>
        <p:spPr>
          <a:xfrm>
            <a:off x="1187250" y="1525800"/>
            <a:ext cx="67695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5"/>
              <a:buFont typeface="Arial"/>
              <a:buNone/>
            </a:pPr>
            <a:r>
              <a:rPr b="1" lang="en">
                <a:latin typeface="Georgia"/>
                <a:ea typeface="Georgia"/>
                <a:cs typeface="Georgia"/>
                <a:sym typeface="Georgia"/>
              </a:rPr>
              <a:t>Approach To Analysis II</a:t>
            </a:r>
            <a:endParaRPr b="1">
              <a:latin typeface="Georgia"/>
              <a:ea typeface="Georgia"/>
              <a:cs typeface="Georgia"/>
              <a:sym typeface="Georgia"/>
            </a:endParaRPr>
          </a:p>
          <a:p>
            <a:pPr indent="0" lvl="0" marL="0" rtl="0" algn="ctr">
              <a:spcBef>
                <a:spcPts val="0"/>
              </a:spcBef>
              <a:spcAft>
                <a:spcPts val="0"/>
              </a:spcAft>
              <a:buNone/>
            </a:pPr>
            <a:r>
              <a:t/>
            </a:r>
            <a:endParaRPr b="1">
              <a:latin typeface="Georgia"/>
              <a:ea typeface="Georgia"/>
              <a:cs typeface="Georgia"/>
              <a:sym typeface="Georgia"/>
            </a:endParaRPr>
          </a:p>
        </p:txBody>
      </p:sp>
      <p:sp>
        <p:nvSpPr>
          <p:cNvPr id="219" name="Google Shape;219;p40"/>
          <p:cNvSpPr txBox="1"/>
          <p:nvPr>
            <p:ph idx="1" type="body"/>
          </p:nvPr>
        </p:nvSpPr>
        <p:spPr>
          <a:xfrm>
            <a:off x="1187250" y="2098500"/>
            <a:ext cx="6769500" cy="946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solidFill>
                  <a:schemeClr val="dk1"/>
                </a:solidFill>
                <a:latin typeface="Georgia"/>
                <a:ea typeface="Georgia"/>
                <a:cs typeface="Georgia"/>
                <a:sym typeface="Georgia"/>
              </a:rPr>
              <a:t>Predicting the future public sentiment regarding developments in the Ukrainian economy </a:t>
            </a:r>
            <a:endParaRPr sz="2000">
              <a:solidFill>
                <a:schemeClr val="dk1"/>
              </a:solidFill>
              <a:latin typeface="Georgia"/>
              <a:ea typeface="Georgia"/>
              <a:cs typeface="Georgia"/>
              <a:sym typeface="Georgi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1"/>
          <p:cNvSpPr txBox="1"/>
          <p:nvPr>
            <p:ph type="title"/>
          </p:nvPr>
        </p:nvSpPr>
        <p:spPr>
          <a:xfrm>
            <a:off x="1061000" y="491150"/>
            <a:ext cx="6642600" cy="104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latin typeface="Georgia"/>
                <a:ea typeface="Georgia"/>
                <a:cs typeface="Georgia"/>
                <a:sym typeface="Georgia"/>
              </a:rPr>
              <a:t>Predicting / Forecasting Future Sentiment</a:t>
            </a:r>
            <a:endParaRPr b="1">
              <a:latin typeface="Georgia"/>
              <a:ea typeface="Georgia"/>
              <a:cs typeface="Georgia"/>
              <a:sym typeface="Georgia"/>
            </a:endParaRPr>
          </a:p>
        </p:txBody>
      </p:sp>
      <p:sp>
        <p:nvSpPr>
          <p:cNvPr id="225" name="Google Shape;225;p41"/>
          <p:cNvSpPr txBox="1"/>
          <p:nvPr>
            <p:ph idx="1" type="body"/>
          </p:nvPr>
        </p:nvSpPr>
        <p:spPr>
          <a:xfrm>
            <a:off x="1061000" y="1671450"/>
            <a:ext cx="6838800" cy="278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latin typeface="Georgia"/>
                <a:ea typeface="Georgia"/>
                <a:cs typeface="Georgia"/>
                <a:sym typeface="Georgia"/>
              </a:rPr>
              <a:t>Here, we are making use of the Prophet Model which is an open source library published by Meta that is based on decomposable (trend+seasonality+holidays) models. </a:t>
            </a:r>
            <a:endParaRPr sz="1900">
              <a:solidFill>
                <a:schemeClr val="dk1"/>
              </a:solidFill>
              <a:latin typeface="Georgia"/>
              <a:ea typeface="Georgia"/>
              <a:cs typeface="Georgia"/>
              <a:sym typeface="Georgia"/>
            </a:endParaRPr>
          </a:p>
          <a:p>
            <a:pPr indent="0" lvl="0" marL="0" rtl="0" algn="l">
              <a:spcBef>
                <a:spcPts val="0"/>
              </a:spcBef>
              <a:spcAft>
                <a:spcPts val="0"/>
              </a:spcAft>
              <a:buNone/>
            </a:pPr>
            <a:r>
              <a:t/>
            </a:r>
            <a:endParaRPr sz="1900">
              <a:solidFill>
                <a:schemeClr val="dk1"/>
              </a:solidFill>
              <a:latin typeface="Georgia"/>
              <a:ea typeface="Georgia"/>
              <a:cs typeface="Georgia"/>
              <a:sym typeface="Georgia"/>
            </a:endParaRPr>
          </a:p>
          <a:p>
            <a:pPr indent="0" lvl="0" marL="0" rtl="0" algn="l">
              <a:spcBef>
                <a:spcPts val="0"/>
              </a:spcBef>
              <a:spcAft>
                <a:spcPts val="0"/>
              </a:spcAft>
              <a:buNone/>
            </a:pPr>
            <a:r>
              <a:rPr lang="en" sz="1900">
                <a:solidFill>
                  <a:schemeClr val="dk1"/>
                </a:solidFill>
                <a:latin typeface="Georgia"/>
                <a:ea typeface="Georgia"/>
                <a:cs typeface="Georgia"/>
                <a:sym typeface="Georgia"/>
              </a:rPr>
              <a:t>It provides us with the ability to make time series predictions with good accuracy using simple intuitive parameters and has support for including impact of custom seasonality and holidays.</a:t>
            </a:r>
            <a:endParaRPr sz="1900">
              <a:solidFill>
                <a:schemeClr val="dk1"/>
              </a:solidFill>
              <a:latin typeface="Georgia"/>
              <a:ea typeface="Georgia"/>
              <a:cs typeface="Georgia"/>
              <a:sym typeface="Georgi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2"/>
          <p:cNvSpPr txBox="1"/>
          <p:nvPr>
            <p:ph type="title"/>
          </p:nvPr>
        </p:nvSpPr>
        <p:spPr>
          <a:xfrm>
            <a:off x="857250" y="606475"/>
            <a:ext cx="72795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latin typeface="Georgia"/>
                <a:ea typeface="Georgia"/>
                <a:cs typeface="Georgia"/>
                <a:sym typeface="Georgia"/>
              </a:rPr>
              <a:t>Significance Of Prophet Algorithm</a:t>
            </a:r>
            <a:endParaRPr b="1">
              <a:latin typeface="Georgia"/>
              <a:ea typeface="Georgia"/>
              <a:cs typeface="Georgia"/>
              <a:sym typeface="Georgia"/>
            </a:endParaRPr>
          </a:p>
        </p:txBody>
      </p:sp>
      <p:sp>
        <p:nvSpPr>
          <p:cNvPr id="231" name="Google Shape;231;p42"/>
          <p:cNvSpPr txBox="1"/>
          <p:nvPr>
            <p:ph idx="1" type="body"/>
          </p:nvPr>
        </p:nvSpPr>
        <p:spPr>
          <a:xfrm>
            <a:off x="857250" y="1360050"/>
            <a:ext cx="7279500" cy="1119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100"/>
              <a:buNone/>
            </a:pPr>
            <a:r>
              <a:rPr lang="en">
                <a:solidFill>
                  <a:schemeClr val="dk1"/>
                </a:solidFill>
                <a:latin typeface="Georgia"/>
                <a:ea typeface="Georgia"/>
                <a:cs typeface="Georgia"/>
                <a:sym typeface="Georgia"/>
              </a:rPr>
              <a:t>We decided to use Prophet algorithm as it converts the data into stationary form and it has clearer visualization compared to other similar models/methods.</a:t>
            </a:r>
            <a:endParaRPr>
              <a:solidFill>
                <a:schemeClr val="dk1"/>
              </a:solidFill>
              <a:latin typeface="Georgia"/>
              <a:ea typeface="Georgia"/>
              <a:cs typeface="Georgia"/>
              <a:sym typeface="Georgi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43"/>
          <p:cNvPicPr preferRelativeResize="0"/>
          <p:nvPr/>
        </p:nvPicPr>
        <p:blipFill rotWithShape="1">
          <a:blip r:embed="rId3">
            <a:alphaModFix/>
          </a:blip>
          <a:srcRect b="4992" l="0" r="43772" t="6007"/>
          <a:stretch/>
        </p:blipFill>
        <p:spPr>
          <a:xfrm>
            <a:off x="745000" y="212050"/>
            <a:ext cx="5143500" cy="4870226"/>
          </a:xfrm>
          <a:prstGeom prst="rect">
            <a:avLst/>
          </a:prstGeom>
          <a:noFill/>
          <a:ln>
            <a:noFill/>
          </a:ln>
        </p:spPr>
      </p:pic>
      <p:sp>
        <p:nvSpPr>
          <p:cNvPr id="237" name="Google Shape;237;p43"/>
          <p:cNvSpPr txBox="1"/>
          <p:nvPr/>
        </p:nvSpPr>
        <p:spPr>
          <a:xfrm>
            <a:off x="6429375" y="460275"/>
            <a:ext cx="16041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Georgia"/>
                <a:ea typeface="Georgia"/>
                <a:cs typeface="Georgia"/>
                <a:sym typeface="Georgia"/>
              </a:rPr>
              <a:t>Prediction plot showing the growing negative </a:t>
            </a:r>
            <a:r>
              <a:rPr lang="en" sz="1800">
                <a:latin typeface="Georgia"/>
                <a:ea typeface="Georgia"/>
                <a:cs typeface="Georgia"/>
                <a:sym typeface="Georgia"/>
              </a:rPr>
              <a:t>concern regarding economy.</a:t>
            </a:r>
            <a:endParaRPr sz="1800">
              <a:latin typeface="Georgia"/>
              <a:ea typeface="Georgia"/>
              <a:cs typeface="Georgia"/>
              <a:sym typeface="Georgi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4"/>
          <p:cNvSpPr txBox="1"/>
          <p:nvPr>
            <p:ph type="title"/>
          </p:nvPr>
        </p:nvSpPr>
        <p:spPr>
          <a:xfrm>
            <a:off x="968725" y="421950"/>
            <a:ext cx="6181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latin typeface="Georgia"/>
                <a:ea typeface="Georgia"/>
                <a:cs typeface="Georgia"/>
                <a:sym typeface="Georgia"/>
              </a:rPr>
              <a:t>Inference</a:t>
            </a:r>
            <a:endParaRPr b="1">
              <a:latin typeface="Georgia"/>
              <a:ea typeface="Georgia"/>
              <a:cs typeface="Georgia"/>
              <a:sym typeface="Georgia"/>
            </a:endParaRPr>
          </a:p>
          <a:p>
            <a:pPr indent="0" lvl="0" marL="0" rtl="0" algn="l">
              <a:spcBef>
                <a:spcPts val="0"/>
              </a:spcBef>
              <a:spcAft>
                <a:spcPts val="0"/>
              </a:spcAft>
              <a:buNone/>
            </a:pPr>
            <a:r>
              <a:t/>
            </a:r>
            <a:endParaRPr/>
          </a:p>
        </p:txBody>
      </p:sp>
      <p:sp>
        <p:nvSpPr>
          <p:cNvPr id="243" name="Google Shape;243;p44"/>
          <p:cNvSpPr txBox="1"/>
          <p:nvPr>
            <p:ph idx="1" type="body"/>
          </p:nvPr>
        </p:nvSpPr>
        <p:spPr>
          <a:xfrm>
            <a:off x="968725" y="1325450"/>
            <a:ext cx="6942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Georgia"/>
                <a:ea typeface="Georgia"/>
                <a:cs typeface="Georgia"/>
                <a:sym typeface="Georgia"/>
              </a:rPr>
              <a:t>From the previous plot, we can infer that there will be a growing negative </a:t>
            </a:r>
            <a:r>
              <a:rPr lang="en" sz="1700">
                <a:solidFill>
                  <a:schemeClr val="dk1"/>
                </a:solidFill>
                <a:latin typeface="Georgia"/>
                <a:ea typeface="Georgia"/>
                <a:cs typeface="Georgia"/>
                <a:sym typeface="Georgia"/>
              </a:rPr>
              <a:t>sentiment</a:t>
            </a:r>
            <a:r>
              <a:rPr lang="en" sz="1700">
                <a:solidFill>
                  <a:schemeClr val="dk1"/>
                </a:solidFill>
                <a:latin typeface="Georgia"/>
                <a:ea typeface="Georgia"/>
                <a:cs typeface="Georgia"/>
                <a:sym typeface="Georgia"/>
              </a:rPr>
              <a:t> regarding the Ukrainian economy, which may imply that the Ukrainian economy is on a way to shrinking, making it very difficult for the country to be brought back up to the pre-war Ukrainian standard of living.</a:t>
            </a:r>
            <a:endParaRPr sz="17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45"/>
          <p:cNvPicPr preferRelativeResize="0"/>
          <p:nvPr/>
        </p:nvPicPr>
        <p:blipFill>
          <a:blip r:embed="rId3">
            <a:alphaModFix/>
          </a:blip>
          <a:stretch>
            <a:fillRect/>
          </a:stretch>
        </p:blipFill>
        <p:spPr>
          <a:xfrm>
            <a:off x="357500" y="561131"/>
            <a:ext cx="9047799" cy="4021244"/>
          </a:xfrm>
          <a:prstGeom prst="rect">
            <a:avLst/>
          </a:prstGeom>
          <a:noFill/>
          <a:ln>
            <a:noFill/>
          </a:ln>
        </p:spPr>
      </p:pic>
      <p:sp>
        <p:nvSpPr>
          <p:cNvPr id="249" name="Google Shape;249;p45"/>
          <p:cNvSpPr txBox="1"/>
          <p:nvPr/>
        </p:nvSpPr>
        <p:spPr>
          <a:xfrm>
            <a:off x="5893150" y="807300"/>
            <a:ext cx="2329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Georgia"/>
                <a:ea typeface="Georgia"/>
                <a:cs typeface="Georgia"/>
                <a:sym typeface="Georgia"/>
              </a:rPr>
              <a:t>Weekly  &amp; Daily Trend</a:t>
            </a:r>
            <a:endParaRPr sz="1800">
              <a:latin typeface="Georgia"/>
              <a:ea typeface="Georgia"/>
              <a:cs typeface="Georgia"/>
              <a:sym typeface="Georgi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6"/>
          <p:cNvSpPr txBox="1"/>
          <p:nvPr>
            <p:ph type="title"/>
          </p:nvPr>
        </p:nvSpPr>
        <p:spPr>
          <a:xfrm>
            <a:off x="968725" y="421950"/>
            <a:ext cx="6181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latin typeface="Georgia"/>
                <a:ea typeface="Georgia"/>
                <a:cs typeface="Georgia"/>
                <a:sym typeface="Georgia"/>
              </a:rPr>
              <a:t>Inference</a:t>
            </a:r>
            <a:endParaRPr b="1">
              <a:latin typeface="Georgia"/>
              <a:ea typeface="Georgia"/>
              <a:cs typeface="Georgia"/>
              <a:sym typeface="Georgia"/>
            </a:endParaRPr>
          </a:p>
          <a:p>
            <a:pPr indent="0" lvl="0" marL="0" rtl="0" algn="l">
              <a:spcBef>
                <a:spcPts val="0"/>
              </a:spcBef>
              <a:spcAft>
                <a:spcPts val="0"/>
              </a:spcAft>
              <a:buNone/>
            </a:pPr>
            <a:r>
              <a:t/>
            </a:r>
            <a:endParaRPr/>
          </a:p>
        </p:txBody>
      </p:sp>
      <p:sp>
        <p:nvSpPr>
          <p:cNvPr id="255" name="Google Shape;255;p46"/>
          <p:cNvSpPr txBox="1"/>
          <p:nvPr>
            <p:ph idx="1" type="body"/>
          </p:nvPr>
        </p:nvSpPr>
        <p:spPr>
          <a:xfrm>
            <a:off x="968725" y="1325450"/>
            <a:ext cx="6942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Georgia"/>
                <a:ea typeface="Georgia"/>
                <a:cs typeface="Georgia"/>
                <a:sym typeface="Georgia"/>
              </a:rPr>
              <a:t>From the previous plot, we can infer that on a weekly &amp; daily basis, the concern for the Ukrainian economy fluctuates, but peaks every </a:t>
            </a:r>
            <a:r>
              <a:rPr lang="en" sz="1700">
                <a:solidFill>
                  <a:schemeClr val="dk1"/>
                </a:solidFill>
                <a:latin typeface="Georgia"/>
                <a:ea typeface="Georgia"/>
                <a:cs typeface="Georgia"/>
                <a:sym typeface="Georgia"/>
              </a:rPr>
              <a:t>week</a:t>
            </a:r>
            <a:r>
              <a:rPr lang="en" sz="1700">
                <a:solidFill>
                  <a:schemeClr val="dk1"/>
                </a:solidFill>
                <a:latin typeface="Georgia"/>
                <a:ea typeface="Georgia"/>
                <a:cs typeface="Georgia"/>
                <a:sym typeface="Georgia"/>
              </a:rPr>
              <a:t>. This is </a:t>
            </a:r>
            <a:r>
              <a:rPr lang="en" sz="1700">
                <a:solidFill>
                  <a:schemeClr val="dk1"/>
                </a:solidFill>
                <a:latin typeface="Georgia"/>
                <a:ea typeface="Georgia"/>
                <a:cs typeface="Georgia"/>
                <a:sym typeface="Georgia"/>
              </a:rPr>
              <a:t>potentially due to news reports that are generated in context of the crisis on a daily &amp; weekly basis.</a:t>
            </a:r>
            <a:r>
              <a:rPr lang="en" sz="1700">
                <a:solidFill>
                  <a:schemeClr val="dk1"/>
                </a:solidFill>
                <a:latin typeface="Georgia"/>
                <a:ea typeface="Georgia"/>
                <a:cs typeface="Georgia"/>
                <a:sym typeface="Georgia"/>
              </a:rPr>
              <a:t>  </a:t>
            </a:r>
            <a:endParaRPr sz="17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7"/>
          <p:cNvSpPr txBox="1"/>
          <p:nvPr>
            <p:ph type="title"/>
          </p:nvPr>
        </p:nvSpPr>
        <p:spPr>
          <a:xfrm>
            <a:off x="1026400" y="445025"/>
            <a:ext cx="6677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Georgia"/>
                <a:ea typeface="Georgia"/>
                <a:cs typeface="Georgia"/>
                <a:sym typeface="Georgia"/>
              </a:rPr>
              <a:t>Question 2</a:t>
            </a:r>
            <a:endParaRPr b="1">
              <a:latin typeface="Georgia"/>
              <a:ea typeface="Georgia"/>
              <a:cs typeface="Georgia"/>
              <a:sym typeface="Georgia"/>
            </a:endParaRPr>
          </a:p>
        </p:txBody>
      </p:sp>
      <p:sp>
        <p:nvSpPr>
          <p:cNvPr id="261" name="Google Shape;261;p47"/>
          <p:cNvSpPr txBox="1"/>
          <p:nvPr>
            <p:ph idx="1" type="body"/>
          </p:nvPr>
        </p:nvSpPr>
        <p:spPr>
          <a:xfrm>
            <a:off x="1026400" y="1152475"/>
            <a:ext cx="6781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en" sz="1900">
                <a:solidFill>
                  <a:schemeClr val="dk1"/>
                </a:solidFill>
                <a:latin typeface="Georgia"/>
                <a:ea typeface="Georgia"/>
                <a:cs typeface="Georgia"/>
                <a:sym typeface="Georgia"/>
              </a:rPr>
              <a:t>“Predicting what is the general stance regarding Ukraine in the Russo-Ukrainian crisis?”</a:t>
            </a:r>
            <a:endParaRPr i="1" sz="1900">
              <a:solidFill>
                <a:schemeClr val="dk1"/>
              </a:solidFill>
              <a:latin typeface="Georgia"/>
              <a:ea typeface="Georgia"/>
              <a:cs typeface="Georgia"/>
              <a:sym typeface="Georgia"/>
            </a:endParaRPr>
          </a:p>
          <a:p>
            <a:pPr indent="0" lvl="0" marL="0" rtl="0" algn="l">
              <a:spcBef>
                <a:spcPts val="0"/>
              </a:spcBef>
              <a:spcAft>
                <a:spcPts val="0"/>
              </a:spcAft>
              <a:buNone/>
            </a:pPr>
            <a:r>
              <a:t/>
            </a:r>
            <a:endParaRPr sz="1900">
              <a:solidFill>
                <a:schemeClr val="dk1"/>
              </a:solidFill>
              <a:latin typeface="Georgia"/>
              <a:ea typeface="Georgia"/>
              <a:cs typeface="Georgia"/>
              <a:sym typeface="Georgia"/>
            </a:endParaRPr>
          </a:p>
          <a:p>
            <a:pPr indent="0" lvl="0" marL="0" rtl="0" algn="l">
              <a:spcBef>
                <a:spcPts val="0"/>
              </a:spcBef>
              <a:spcAft>
                <a:spcPts val="0"/>
              </a:spcAft>
              <a:buNone/>
            </a:pPr>
            <a:r>
              <a:rPr lang="en" sz="1900">
                <a:solidFill>
                  <a:schemeClr val="dk1"/>
                </a:solidFill>
                <a:latin typeface="Georgia"/>
                <a:ea typeface="Georgia"/>
                <a:cs typeface="Georgia"/>
                <a:sym typeface="Georgia"/>
              </a:rPr>
              <a:t>Here we are trying to segregate the data into two groups mainly, “In Support” and “Not in Support”</a:t>
            </a:r>
            <a:endParaRPr sz="1900">
              <a:solidFill>
                <a:schemeClr val="dk1"/>
              </a:solidFill>
              <a:latin typeface="Georgia"/>
              <a:ea typeface="Georgia"/>
              <a:cs typeface="Georgia"/>
              <a:sym typeface="Georgia"/>
            </a:endParaRPr>
          </a:p>
          <a:p>
            <a:pPr indent="0" lvl="0" marL="0" rtl="0" algn="l">
              <a:spcBef>
                <a:spcPts val="0"/>
              </a:spcBef>
              <a:spcAft>
                <a:spcPts val="0"/>
              </a:spcAft>
              <a:buNone/>
            </a:pPr>
            <a:r>
              <a:t/>
            </a:r>
            <a:endParaRPr sz="1900">
              <a:solidFill>
                <a:schemeClr val="dk1"/>
              </a:solidFill>
              <a:latin typeface="Georgia"/>
              <a:ea typeface="Georgia"/>
              <a:cs typeface="Georgia"/>
              <a:sym typeface="Georgi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48"/>
          <p:cNvPicPr preferRelativeResize="0"/>
          <p:nvPr/>
        </p:nvPicPr>
        <p:blipFill>
          <a:blip r:embed="rId3">
            <a:alphaModFix/>
          </a:blip>
          <a:stretch>
            <a:fillRect/>
          </a:stretch>
        </p:blipFill>
        <p:spPr>
          <a:xfrm>
            <a:off x="657375" y="1290850"/>
            <a:ext cx="4013676" cy="3336750"/>
          </a:xfrm>
          <a:prstGeom prst="rect">
            <a:avLst/>
          </a:prstGeom>
          <a:noFill/>
          <a:ln>
            <a:noFill/>
          </a:ln>
        </p:spPr>
      </p:pic>
      <p:sp>
        <p:nvSpPr>
          <p:cNvPr id="267" name="Google Shape;267;p48"/>
          <p:cNvSpPr txBox="1"/>
          <p:nvPr>
            <p:ph type="title"/>
          </p:nvPr>
        </p:nvSpPr>
        <p:spPr>
          <a:xfrm>
            <a:off x="726550" y="445025"/>
            <a:ext cx="3944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Georgia"/>
                <a:ea typeface="Georgia"/>
                <a:cs typeface="Georgia"/>
                <a:sym typeface="Georgia"/>
              </a:rPr>
              <a:t>Segregated Data</a:t>
            </a:r>
            <a:endParaRPr b="1">
              <a:latin typeface="Georgia"/>
              <a:ea typeface="Georgia"/>
              <a:cs typeface="Georgia"/>
              <a:sym typeface="Georgia"/>
            </a:endParaRPr>
          </a:p>
        </p:txBody>
      </p:sp>
      <p:sp>
        <p:nvSpPr>
          <p:cNvPr id="268" name="Google Shape;268;p48"/>
          <p:cNvSpPr txBox="1"/>
          <p:nvPr/>
        </p:nvSpPr>
        <p:spPr>
          <a:xfrm>
            <a:off x="5445625" y="1641700"/>
            <a:ext cx="3000000" cy="9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Georgia"/>
                <a:ea typeface="Georgia"/>
                <a:cs typeface="Georgia"/>
                <a:sym typeface="Georgia"/>
              </a:rPr>
              <a:t>Gaussian</a:t>
            </a:r>
            <a:r>
              <a:rPr b="1" lang="en" sz="1700">
                <a:latin typeface="Georgia"/>
                <a:ea typeface="Georgia"/>
                <a:cs typeface="Georgia"/>
                <a:sym typeface="Georgia"/>
              </a:rPr>
              <a:t> Naive Bayes</a:t>
            </a:r>
            <a:endParaRPr b="1" sz="1700">
              <a:latin typeface="Georgia"/>
              <a:ea typeface="Georgia"/>
              <a:cs typeface="Georgia"/>
              <a:sym typeface="Georgia"/>
            </a:endParaRPr>
          </a:p>
          <a:p>
            <a:pPr indent="0" lvl="0" marL="0" rtl="0" algn="l">
              <a:spcBef>
                <a:spcPts val="0"/>
              </a:spcBef>
              <a:spcAft>
                <a:spcPts val="0"/>
              </a:spcAft>
              <a:buNone/>
            </a:pPr>
            <a:r>
              <a:rPr lang="en" sz="1500" u="sng">
                <a:latin typeface="Georgia"/>
                <a:ea typeface="Georgia"/>
                <a:cs typeface="Georgia"/>
                <a:sym typeface="Georgia"/>
              </a:rPr>
              <a:t>Accuracy</a:t>
            </a:r>
            <a:r>
              <a:rPr lang="en" sz="1500">
                <a:latin typeface="Georgia"/>
                <a:ea typeface="Georgia"/>
                <a:cs typeface="Georgia"/>
                <a:sym typeface="Georgia"/>
              </a:rPr>
              <a:t>: 35%</a:t>
            </a:r>
            <a:endParaRPr sz="1500">
              <a:latin typeface="Georgia"/>
              <a:ea typeface="Georgia"/>
              <a:cs typeface="Georgia"/>
              <a:sym typeface="Georgia"/>
            </a:endParaRPr>
          </a:p>
          <a:p>
            <a:pPr indent="0" lvl="0" marL="0" rtl="0" algn="l">
              <a:spcBef>
                <a:spcPts val="0"/>
              </a:spcBef>
              <a:spcAft>
                <a:spcPts val="0"/>
              </a:spcAft>
              <a:buNone/>
            </a:pPr>
            <a:r>
              <a:rPr lang="en" sz="1500" u="sng">
                <a:latin typeface="Georgia"/>
                <a:ea typeface="Georgia"/>
                <a:cs typeface="Georgia"/>
                <a:sym typeface="Georgia"/>
              </a:rPr>
              <a:t>Precision Score</a:t>
            </a:r>
            <a:r>
              <a:rPr lang="en" sz="1500">
                <a:latin typeface="Georgia"/>
                <a:ea typeface="Georgia"/>
                <a:cs typeface="Georgia"/>
                <a:sym typeface="Georgia"/>
              </a:rPr>
              <a:t>: 15%</a:t>
            </a:r>
            <a:endParaRPr sz="1500">
              <a:latin typeface="Georgia"/>
              <a:ea typeface="Georgia"/>
              <a:cs typeface="Georgia"/>
              <a:sym typeface="Georgia"/>
            </a:endParaRPr>
          </a:p>
        </p:txBody>
      </p:sp>
      <p:sp>
        <p:nvSpPr>
          <p:cNvPr id="269" name="Google Shape;269;p48"/>
          <p:cNvSpPr txBox="1"/>
          <p:nvPr/>
        </p:nvSpPr>
        <p:spPr>
          <a:xfrm>
            <a:off x="5445625" y="2680600"/>
            <a:ext cx="3000000" cy="9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dk1"/>
                </a:solidFill>
                <a:latin typeface="Georgia"/>
                <a:ea typeface="Georgia"/>
                <a:cs typeface="Georgia"/>
                <a:sym typeface="Georgia"/>
              </a:rPr>
              <a:t>Multinomial </a:t>
            </a:r>
            <a:r>
              <a:rPr b="1" lang="en" sz="1700">
                <a:solidFill>
                  <a:schemeClr val="dk1"/>
                </a:solidFill>
                <a:latin typeface="Georgia"/>
                <a:ea typeface="Georgia"/>
                <a:cs typeface="Georgia"/>
                <a:sym typeface="Georgia"/>
              </a:rPr>
              <a:t>Naive Bayes</a:t>
            </a:r>
            <a:endParaRPr b="1" sz="1700">
              <a:solidFill>
                <a:schemeClr val="dk1"/>
              </a:solidFill>
              <a:latin typeface="Georgia"/>
              <a:ea typeface="Georgia"/>
              <a:cs typeface="Georgia"/>
              <a:sym typeface="Georgia"/>
            </a:endParaRPr>
          </a:p>
          <a:p>
            <a:pPr indent="0" lvl="0" marL="0" rtl="0" algn="l">
              <a:spcBef>
                <a:spcPts val="0"/>
              </a:spcBef>
              <a:spcAft>
                <a:spcPts val="0"/>
              </a:spcAft>
              <a:buNone/>
            </a:pPr>
            <a:r>
              <a:rPr lang="en" sz="1500" u="sng">
                <a:solidFill>
                  <a:schemeClr val="dk1"/>
                </a:solidFill>
                <a:latin typeface="Georgia"/>
                <a:ea typeface="Georgia"/>
                <a:cs typeface="Georgia"/>
                <a:sym typeface="Georgia"/>
              </a:rPr>
              <a:t>Accuracy:</a:t>
            </a:r>
            <a:r>
              <a:rPr lang="en" sz="1500">
                <a:solidFill>
                  <a:schemeClr val="dk1"/>
                </a:solidFill>
                <a:latin typeface="Georgia"/>
                <a:ea typeface="Georgia"/>
                <a:cs typeface="Georgia"/>
                <a:sym typeface="Georgia"/>
              </a:rPr>
              <a:t> 91%</a:t>
            </a:r>
            <a:endParaRPr sz="1500">
              <a:solidFill>
                <a:schemeClr val="dk1"/>
              </a:solidFill>
              <a:latin typeface="Georgia"/>
              <a:ea typeface="Georgia"/>
              <a:cs typeface="Georgia"/>
              <a:sym typeface="Georgia"/>
            </a:endParaRPr>
          </a:p>
          <a:p>
            <a:pPr indent="0" lvl="0" marL="0" rtl="0" algn="l">
              <a:spcBef>
                <a:spcPts val="0"/>
              </a:spcBef>
              <a:spcAft>
                <a:spcPts val="0"/>
              </a:spcAft>
              <a:buNone/>
            </a:pPr>
            <a:r>
              <a:rPr lang="en" sz="1500" u="sng">
                <a:solidFill>
                  <a:schemeClr val="dk1"/>
                </a:solidFill>
                <a:latin typeface="Georgia"/>
                <a:ea typeface="Georgia"/>
                <a:cs typeface="Georgia"/>
                <a:sym typeface="Georgia"/>
              </a:rPr>
              <a:t>Precision Score:</a:t>
            </a:r>
            <a:r>
              <a:rPr lang="en" sz="1500">
                <a:solidFill>
                  <a:schemeClr val="dk1"/>
                </a:solidFill>
                <a:latin typeface="Georgia"/>
                <a:ea typeface="Georgia"/>
                <a:cs typeface="Georgia"/>
                <a:sym typeface="Georgia"/>
              </a:rPr>
              <a:t> 81%</a:t>
            </a:r>
            <a:endParaRPr sz="1500">
              <a:solidFill>
                <a:schemeClr val="dk1"/>
              </a:solidFill>
              <a:latin typeface="Georgia"/>
              <a:ea typeface="Georgia"/>
              <a:cs typeface="Georgia"/>
              <a:sym typeface="Georgia"/>
            </a:endParaRPr>
          </a:p>
        </p:txBody>
      </p:sp>
      <p:sp>
        <p:nvSpPr>
          <p:cNvPr id="270" name="Google Shape;270;p48"/>
          <p:cNvSpPr txBox="1"/>
          <p:nvPr/>
        </p:nvSpPr>
        <p:spPr>
          <a:xfrm>
            <a:off x="5445625" y="3719500"/>
            <a:ext cx="3000000" cy="9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dk1"/>
                </a:solidFill>
                <a:latin typeface="Georgia"/>
                <a:ea typeface="Georgia"/>
                <a:cs typeface="Georgia"/>
                <a:sym typeface="Georgia"/>
              </a:rPr>
              <a:t>Bernoulli</a:t>
            </a:r>
            <a:r>
              <a:rPr b="1" lang="en" sz="1700">
                <a:solidFill>
                  <a:schemeClr val="dk1"/>
                </a:solidFill>
                <a:latin typeface="Georgia"/>
                <a:ea typeface="Georgia"/>
                <a:cs typeface="Georgia"/>
                <a:sym typeface="Georgia"/>
              </a:rPr>
              <a:t> </a:t>
            </a:r>
            <a:r>
              <a:rPr b="1" lang="en" sz="1700">
                <a:solidFill>
                  <a:schemeClr val="dk1"/>
                </a:solidFill>
                <a:latin typeface="Georgia"/>
                <a:ea typeface="Georgia"/>
                <a:cs typeface="Georgia"/>
                <a:sym typeface="Georgia"/>
              </a:rPr>
              <a:t>Naive Bayes</a:t>
            </a:r>
            <a:endParaRPr b="1" sz="1700">
              <a:solidFill>
                <a:schemeClr val="dk1"/>
              </a:solidFill>
              <a:latin typeface="Georgia"/>
              <a:ea typeface="Georgia"/>
              <a:cs typeface="Georgia"/>
              <a:sym typeface="Georgia"/>
            </a:endParaRPr>
          </a:p>
          <a:p>
            <a:pPr indent="0" lvl="0" marL="0" rtl="0" algn="l">
              <a:spcBef>
                <a:spcPts val="0"/>
              </a:spcBef>
              <a:spcAft>
                <a:spcPts val="0"/>
              </a:spcAft>
              <a:buNone/>
            </a:pPr>
            <a:r>
              <a:rPr lang="en" sz="1500" u="sng">
                <a:solidFill>
                  <a:schemeClr val="dk1"/>
                </a:solidFill>
                <a:latin typeface="Georgia"/>
                <a:ea typeface="Georgia"/>
                <a:cs typeface="Georgia"/>
                <a:sym typeface="Georgia"/>
              </a:rPr>
              <a:t>Accuracy:</a:t>
            </a:r>
            <a:r>
              <a:rPr lang="en" sz="1500">
                <a:solidFill>
                  <a:schemeClr val="dk1"/>
                </a:solidFill>
                <a:latin typeface="Georgia"/>
                <a:ea typeface="Georgia"/>
                <a:cs typeface="Georgia"/>
                <a:sym typeface="Georgia"/>
              </a:rPr>
              <a:t> 99%</a:t>
            </a:r>
            <a:endParaRPr sz="1500">
              <a:solidFill>
                <a:schemeClr val="dk1"/>
              </a:solidFill>
              <a:latin typeface="Georgia"/>
              <a:ea typeface="Georgia"/>
              <a:cs typeface="Georgia"/>
              <a:sym typeface="Georgia"/>
            </a:endParaRPr>
          </a:p>
          <a:p>
            <a:pPr indent="0" lvl="0" marL="0" rtl="0" algn="l">
              <a:spcBef>
                <a:spcPts val="0"/>
              </a:spcBef>
              <a:spcAft>
                <a:spcPts val="0"/>
              </a:spcAft>
              <a:buNone/>
            </a:pPr>
            <a:r>
              <a:rPr lang="en" sz="1500" u="sng">
                <a:solidFill>
                  <a:schemeClr val="dk1"/>
                </a:solidFill>
                <a:latin typeface="Georgia"/>
                <a:ea typeface="Georgia"/>
                <a:cs typeface="Georgia"/>
                <a:sym typeface="Georgia"/>
              </a:rPr>
              <a:t>Precision Score:</a:t>
            </a:r>
            <a:r>
              <a:rPr lang="en" sz="1500">
                <a:solidFill>
                  <a:schemeClr val="dk1"/>
                </a:solidFill>
                <a:latin typeface="Georgia"/>
                <a:ea typeface="Georgia"/>
                <a:cs typeface="Georgia"/>
                <a:sym typeface="Georgia"/>
              </a:rPr>
              <a:t> 95%</a:t>
            </a:r>
            <a:endParaRPr sz="1500">
              <a:latin typeface="Georgia"/>
              <a:ea typeface="Georgia"/>
              <a:cs typeface="Georgia"/>
              <a:sym typeface="Georgia"/>
            </a:endParaRPr>
          </a:p>
        </p:txBody>
      </p:sp>
      <p:sp>
        <p:nvSpPr>
          <p:cNvPr id="271" name="Google Shape;271;p48"/>
          <p:cNvSpPr txBox="1"/>
          <p:nvPr>
            <p:ph type="title"/>
          </p:nvPr>
        </p:nvSpPr>
        <p:spPr>
          <a:xfrm>
            <a:off x="5445625" y="445025"/>
            <a:ext cx="2424600" cy="113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500">
                <a:latin typeface="Georgia"/>
                <a:ea typeface="Georgia"/>
                <a:cs typeface="Georgia"/>
                <a:sym typeface="Georgia"/>
              </a:rPr>
              <a:t>Naive Bayes Algorithms</a:t>
            </a:r>
            <a:endParaRPr b="1" sz="2500">
              <a:latin typeface="Georgia"/>
              <a:ea typeface="Georgia"/>
              <a:cs typeface="Georgia"/>
              <a:sym typeface="Georgi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9"/>
          <p:cNvSpPr txBox="1"/>
          <p:nvPr>
            <p:ph type="title"/>
          </p:nvPr>
        </p:nvSpPr>
        <p:spPr>
          <a:xfrm>
            <a:off x="1068450" y="1351950"/>
            <a:ext cx="70071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Georgia"/>
                <a:ea typeface="Georgia"/>
                <a:cs typeface="Georgia"/>
                <a:sym typeface="Georgia"/>
              </a:rPr>
              <a:t>Conclusions</a:t>
            </a:r>
            <a:endParaRPr b="1">
              <a:latin typeface="Georgia"/>
              <a:ea typeface="Georgia"/>
              <a:cs typeface="Georgia"/>
              <a:sym typeface="Georgia"/>
            </a:endParaRPr>
          </a:p>
        </p:txBody>
      </p:sp>
      <p:sp>
        <p:nvSpPr>
          <p:cNvPr id="277" name="Google Shape;277;p49"/>
          <p:cNvSpPr txBox="1"/>
          <p:nvPr>
            <p:ph idx="1" type="body"/>
          </p:nvPr>
        </p:nvSpPr>
        <p:spPr>
          <a:xfrm>
            <a:off x="1068450" y="2009725"/>
            <a:ext cx="7007100" cy="1804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100">
                <a:solidFill>
                  <a:schemeClr val="dk1"/>
                </a:solidFill>
                <a:latin typeface="Georgia"/>
                <a:ea typeface="Georgia"/>
                <a:cs typeface="Georgia"/>
                <a:sym typeface="Georgia"/>
              </a:rPr>
              <a:t>From our analysis, we have concluded that there is a growing concern regarding the state of Ukraine, under the Russo-Ukrainian crisis and a general support for Ukraine against Russian aggression that needs to end. </a:t>
            </a:r>
            <a:endParaRPr sz="2100">
              <a:solidFill>
                <a:schemeClr val="dk1"/>
              </a:solidFill>
              <a:latin typeface="Georgia"/>
              <a:ea typeface="Georgia"/>
              <a:cs typeface="Georgia"/>
              <a:sym typeface="Georgi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0"/>
          <p:cNvSpPr txBox="1"/>
          <p:nvPr/>
        </p:nvSpPr>
        <p:spPr>
          <a:xfrm>
            <a:off x="3456750" y="2287050"/>
            <a:ext cx="22305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1" lang="en" sz="2500">
                <a:latin typeface="Georgia"/>
                <a:ea typeface="Georgia"/>
                <a:cs typeface="Georgia"/>
                <a:sym typeface="Georgia"/>
              </a:rPr>
              <a:t>Thank you</a:t>
            </a:r>
            <a:endParaRPr b="1" i="1" sz="2500" u="none" cap="none" strike="noStrike">
              <a:solidFill>
                <a:srgbClr val="000000"/>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